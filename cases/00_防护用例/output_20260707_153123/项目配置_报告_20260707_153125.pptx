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各地区总销售额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各地区总销售额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标量消费者</c:v>
                </c:pt>
                <c:pt idx="4">
                  <c:v>地区</c:v>
                </c:pt>
                <c:pt idx="5">
                  <c:v>华东</c:v>
                </c:pt>
                <c:pt idx="6">
                  <c:v>华北</c:v>
                </c:pt>
                <c:pt idx="7">
                  <c:v>华南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4800</c:v>
                </c:pt>
                <c:pt idx="1">
                  <c:v>3300</c:v>
                </c:pt>
                <c:pt idx="2">
                  <c:v>4650</c:v>
                </c:pt>
                <c:pt idx="3">
                  <c:v>地区销量</c:v>
                </c:pt>
                <c:pt idx="4">
                  <c:v>390</c:v>
                </c:pt>
                <c:pt idx="5">
                  <c:v>270</c:v>
                </c:pt>
                <c:pt idx="6">
                  <c:v>370</c:v>
                </c:pt>
              </c:numCache>
            </c:numRef>
          </c:val>
          <c:spPr>
            <a:gradFill>
              <a:gsLst>
                <a:gs pos="0">
                  <a:srgbClr val="FCBFC2"/>
                </a:gs>
                <a:gs pos="100000">
                  <a:srgbClr val="FA888D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各地区销售额对比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各地区销售额对比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</c:v>
                </c:pt>
                <c:pt idx="1">
                  <c:v>3300</c:v>
                </c:pt>
                <c:pt idx="2">
                  <c:v>4650</c:v>
                </c:pt>
              </c:numCache>
            </c:numRef>
          </c:val>
          <c:spPr>
            <a:gradFill>
              <a:gsLst>
                <a:gs pos="0">
                  <a:srgbClr val="ABB1CB"/>
                </a:gs>
                <a:gs pos="100000">
                  <a:srgbClr val="636C9E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各地区销售额占比</a:t>
            </a:r>
          </a:p>
        </c:rich>
      </c:tx>
      <c:layout/>
      <c:overlay val="0"/>
    </c:title>
    <c:autoTitleDeleted val="0"/>
    <c:plotArea>
      <c:pieChart>
        <c:varyColors val="1"/>
        <c:ser>
          <c:spPr>
            <a:gradFill>
              <a:gsLst>
                <a:gs pos="0">
                  <a:srgbClr val="FCF5D4"/>
                </a:gs>
                <a:gs pos="100000">
                  <a:srgbClr val="FAEDAF"/>
                </a:gs>
              </a:gsLst>
              <a:lin ang="5400000" scaled="1"/>
            </a:gradFill>
          </c:spPr>
          <c:idx val="0"/>
          <c:order val="0"/>
          <c:tx>
            <c:strRef>
              <c:f>Sheet1!$B$1</c:f>
              <c:strCache>
                <c:ptCount val="1"/>
                <c:pt idx="0">
                  <c:v>各地区销售额占比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0.3765</c:v>
                </c:pt>
                <c:pt idx="1">
                  <c:v>0.2588</c:v>
                </c:pt>
                <c:pt idx="2">
                  <c:v>0.3647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2F3C7E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销售额区间客户分布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销售额区间客户分布</c:v>
                </c:pt>
              </c:strCache>
            </c:strRef>
          </c:tx>
          <c:spPr>
            <a:ln w="25400">
              <a:solidFill>
                <a:srgbClr val="3B82F6"/>
              </a:solidFill>
            </a:ln>
          </c:spPr>
          <c:marker>
            <c:symbol val="circle"/>
            <c:size val="6"/>
            <c:spPr>
              <a:solidFill>
                <a:srgbClr val="3B82F6"/>
              </a:solidFill>
              <a:ln>
                <a:solidFill>
                  <a:srgbClr val="3B82F6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500~1000</c:v>
                </c:pt>
                <c:pt idx="1">
                  <c:v>1000~1500</c:v>
                </c:pt>
                <c:pt idx="2">
                  <c:v>1500~2000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smooth val="0"/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block合并测试(列A)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block合并测试(列A)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500~1000</c:v>
                </c:pt>
                <c:pt idx="1">
                  <c:v>1000~1500</c:v>
                </c:pt>
                <c:pt idx="2">
                  <c:v>1500~2000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spPr>
            <a:gradFill>
              <a:gsLst>
                <a:gs pos="0">
                  <a:srgbClr val="9FE3CC"/>
                </a:gs>
                <a:gs pos="100000">
                  <a:srgbClr val="4BCAA0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各城市销售额对比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各城市销售额对比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广州市</c:v>
                </c:pt>
                <c:pt idx="1">
                  <c:v>深圳市</c:v>
                </c:pt>
                <c:pt idx="2">
                  <c:v>珠海市</c:v>
                </c:pt>
                <c:pt idx="3">
                  <c:v>佛山市</c:v>
                </c:pt>
                <c:pt idx="4">
                  <c:v>东莞市</c:v>
                </c:pt>
                <c:pt idx="5">
                  <c:v>中山市</c:v>
                </c:pt>
                <c:pt idx="6">
                  <c:v>惠州市</c:v>
                </c:pt>
                <c:pt idx="7">
                  <c:v>江门市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1500</c:v>
                </c:pt>
                <c:pt idx="1">
                  <c:v>1800</c:v>
                </c:pt>
                <c:pt idx="2">
                  <c:v>800</c:v>
                </c:pt>
                <c:pt idx="3">
                  <c:v>1100</c:v>
                </c:pt>
                <c:pt idx="4">
                  <c:v>1300</c:v>
                </c:pt>
                <c:pt idx="5">
                  <c:v>700</c:v>
                </c:pt>
                <c:pt idx="6">
                  <c:v>950</c:v>
                </c:pt>
                <c:pt idx="7">
                  <c:v>650</c:v>
                </c:pt>
              </c:numCache>
            </c:numRef>
          </c:val>
          <c:spPr>
            <a:gradFill>
              <a:gsLst>
                <a:gs pos="0">
                  <a:srgbClr val="FBD89D"/>
                </a:gs>
                <a:gs pos="100000">
                  <a:srgbClr val="F7B648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季度销售额趋势(面积图)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季度销售额趋势(面积图)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5500</c:v>
                </c:pt>
                <c:pt idx="1">
                  <c:v>7250</c:v>
                </c:pt>
              </c:numCache>
            </c:numRef>
          </c:val>
          <c:spPr>
            <a:gradFill>
              <a:gsLst>
                <a:gs pos="0">
                  <a:srgbClr val="EFB5F8"/>
                </a:gs>
                <a:gs pos="100000">
                  <a:srgbClr val="E274F3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00718248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各地区销售额(柱状图)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各地区销售额(柱状图)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</c:v>
                </c:pt>
                <c:pt idx="1">
                  <c:v>3300</c:v>
                </c:pt>
                <c:pt idx="2">
                  <c:v>4650</c:v>
                </c:pt>
              </c:numCache>
            </c:numRef>
          </c:val>
          <c:spPr>
            <a:gradFill>
              <a:gsLst>
                <a:gs pos="0">
                  <a:srgbClr val="C0C1F9"/>
                </a:gs>
                <a:gs pos="100000">
                  <a:srgbClr val="8A8CF4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各地区销售额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各地区销售额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标量消费者</c:v>
                </c:pt>
                <c:pt idx="4">
                  <c:v>地区</c:v>
                </c:pt>
                <c:pt idx="5">
                  <c:v>华东</c:v>
                </c:pt>
                <c:pt idx="6">
                  <c:v>华北</c:v>
                </c:pt>
                <c:pt idx="7">
                  <c:v>华南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4800</c:v>
                </c:pt>
                <c:pt idx="1">
                  <c:v>3300</c:v>
                </c:pt>
                <c:pt idx="2">
                  <c:v>4650</c:v>
                </c:pt>
                <c:pt idx="3">
                  <c:v>地区销量</c:v>
                </c:pt>
                <c:pt idx="4">
                  <c:v>390</c:v>
                </c:pt>
                <c:pt idx="5">
                  <c:v>270</c:v>
                </c:pt>
                <c:pt idx="6">
                  <c:v>370</c:v>
                </c:pt>
              </c:numCache>
            </c:numRef>
          </c:val>
          <c:spPr>
            <a:gradFill>
              <a:gsLst>
                <a:gs pos="0">
                  <a:srgbClr val="FCBFC2"/>
                </a:gs>
                <a:gs pos="100000">
                  <a:srgbClr val="FA888D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各地区销量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各地区销量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标量消费者</c:v>
                </c:pt>
                <c:pt idx="4">
                  <c:v>地区</c:v>
                </c:pt>
                <c:pt idx="5">
                  <c:v>华东</c:v>
                </c:pt>
                <c:pt idx="6">
                  <c:v>华北</c:v>
                </c:pt>
                <c:pt idx="7">
                  <c:v>华南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390</c:v>
                </c:pt>
                <c:pt idx="1">
                  <c:v>270</c:v>
                </c:pt>
                <c:pt idx="2">
                  <c:v>370</c:v>
                </c:pt>
                <c:pt idx="3">
                  <c:v>销量占比</c:v>
                </c:pt>
                <c:pt idx="4">
                  <c:v>0.03058823529411765</c:v>
                </c:pt>
                <c:pt idx="5">
                  <c:v>0.02117647058823529</c:v>
                </c:pt>
                <c:pt idx="6">
                  <c:v>0.02901960784313725</c:v>
                </c:pt>
              </c:numCache>
            </c:numRef>
          </c:val>
          <c:spPr>
            <a:gradFill>
              <a:gsLst>
                <a:gs pos="0">
                  <a:srgbClr val="ABB1CB"/>
                </a:gs>
                <a:gs pos="100000">
                  <a:srgbClr val="636C9E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地区销售额对比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地区销售额对比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</c:v>
                </c:pt>
                <c:pt idx="1">
                  <c:v>3300</c:v>
                </c:pt>
                <c:pt idx="2">
                  <c:v>4650</c:v>
                </c:pt>
              </c:numCache>
            </c:numRef>
          </c:val>
          <c:spPr>
            <a:gradFill>
              <a:gsLst>
                <a:gs pos="0">
                  <a:srgbClr val="FCF5D4"/>
                </a:gs>
                <a:gs pos="100000">
                  <a:srgbClr val="FAEDAF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华东华北对比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华东华北对比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华东</c:v>
                </c:pt>
                <c:pt idx="1">
                  <c:v>华北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4800</c:v>
                </c:pt>
                <c:pt idx="1">
                  <c:v>3300</c:v>
                </c:pt>
              </c:numCache>
            </c:numRef>
          </c:val>
          <c:spPr>
            <a:gradFill>
              <a:gsLst>
                <a:gs pos="0">
                  <a:srgbClr val="B0CDFB"/>
                </a:gs>
                <a:gs pos="100000">
                  <a:srgbClr val="6CA1F8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各地区销售额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各地区销售额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  <c:pt idx="3">
                  <c:v>标量消费者</c:v>
                </c:pt>
                <c:pt idx="4">
                  <c:v>地区</c:v>
                </c:pt>
                <c:pt idx="5">
                  <c:v>华东</c:v>
                </c:pt>
                <c:pt idx="6">
                  <c:v>华北</c:v>
                </c:pt>
                <c:pt idx="7">
                  <c:v>华南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4800</c:v>
                </c:pt>
                <c:pt idx="1">
                  <c:v>3300</c:v>
                </c:pt>
                <c:pt idx="2">
                  <c:v>4650</c:v>
                </c:pt>
                <c:pt idx="3">
                  <c:v>地区销量</c:v>
                </c:pt>
                <c:pt idx="4">
                  <c:v>390</c:v>
                </c:pt>
                <c:pt idx="5">
                  <c:v>270</c:v>
                </c:pt>
                <c:pt idx="6">
                  <c:v>370</c:v>
                </c:pt>
              </c:numCache>
            </c:numRef>
          </c:val>
          <c:spPr>
            <a:gradFill>
              <a:gsLst>
                <a:gs pos="0">
                  <a:srgbClr val="9FE3CC"/>
                </a:gs>
                <a:gs pos="100000">
                  <a:srgbClr val="4BCAA0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销售额 vs 销量(散点图)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 vs 销量(散点图)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Sheet1!$A$2:$A$9</c:f>
              <c:numCache>
                <c:formatCode>General</c:formatCode>
                <c:ptCount val="8"/>
                <c:pt idx="0">
                  <c:v>1300.0</c:v>
                </c:pt>
                <c:pt idx="1">
                  <c:v>700.0</c:v>
                </c:pt>
                <c:pt idx="2">
                  <c:v>1100.0</c:v>
                </c:pt>
                <c:pt idx="3">
                  <c:v>1500.0</c:v>
                </c:pt>
                <c:pt idx="4">
                  <c:v>950.0</c:v>
                </c:pt>
                <c:pt idx="5">
                  <c:v>650.0</c:v>
                </c:pt>
                <c:pt idx="6">
                  <c:v>1800.0</c:v>
                </c:pt>
                <c:pt idx="7">
                  <c:v>800.0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100.0</c:v>
                </c:pt>
                <c:pt idx="1">
                  <c:v>55.0</c:v>
                </c:pt>
                <c:pt idx="2">
                  <c:v>90.0</c:v>
                </c:pt>
                <c:pt idx="3">
                  <c:v>120.0</c:v>
                </c:pt>
                <c:pt idx="4">
                  <c:v>75.0</c:v>
                </c:pt>
                <c:pt idx="5">
                  <c:v>50.0</c:v>
                </c:pt>
                <c:pt idx="6">
                  <c:v>150.0</c:v>
                </c:pt>
                <c:pt idx="7">
                  <c:v>60.0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  <c:majorGridlines>
          <c:spPr>
            <a:ln w="9525">
              <a:solidFill>
                <a:srgbClr val="D9D9D9"/>
              </a:solidFill>
            </a:ln>
          </c:spPr>
        </c:majorGridlines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各产品销售额占比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spPr>
            <a:gradFill>
              <a:gsLst>
                <a:gs pos="0">
                  <a:srgbClr val="ABB1CB"/>
                </a:gs>
                <a:gs pos="100000">
                  <a:srgbClr val="636C9E"/>
                </a:gs>
              </a:gsLst>
              <a:lin ang="5400000" scaled="1"/>
            </a:gradFill>
          </c:spPr>
          <c:idx val="0"/>
          <c:order val="0"/>
          <c:tx>
            <c:strRef>
              <c:f>Sheet1!$B$1</c:f>
              <c:strCache>
                <c:ptCount val="1"/>
                <c:pt idx="0">
                  <c:v>各产品销售额占比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</c:v>
                </c:pt>
                <c:pt idx="1">
                  <c:v>4250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季度销售额趋势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季度销售额趋势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5500</c:v>
                </c:pt>
                <c:pt idx="1">
                  <c:v>7250</c:v>
                </c:pt>
              </c:numCache>
            </c:numRef>
          </c:val>
          <c:spPr>
            <a:gradFill>
              <a:gsLst>
                <a:gs pos="0">
                  <a:srgbClr val="C0C1F9"/>
                </a:gs>
                <a:gs pos="100000">
                  <a:srgbClr val="8A8CF4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00718248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销售额(柱) + 销量(折)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销售额(柱) + 销量(折)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</c:v>
                </c:pt>
                <c:pt idx="1">
                  <c:v>3300</c:v>
                </c:pt>
                <c:pt idx="2">
                  <c:v>4650</c:v>
                </c:pt>
              </c:numCache>
            </c:numRef>
          </c:val>
          <c:spPr>
            <a:gradFill>
              <a:gsLst>
                <a:gs pos="0">
                  <a:srgbClr val="FCBFC2"/>
                </a:gs>
                <a:gs pos="100000">
                  <a:srgbClr val="FA888D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F3C7E"/>
                </a:solidFill>
              </a:rPr>
              <a:t>各地区均价(异名映射)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各地区均价(异名映射)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华东</c:v>
                </c:pt>
                <c:pt idx="1">
                  <c:v>华北</c:v>
                </c:pt>
                <c:pt idx="2">
                  <c:v>华南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12.30769230769231</c:v>
                </c:pt>
                <c:pt idx="1">
                  <c:v>12.22222222222222</c:v>
                </c:pt>
                <c:pt idx="2">
                  <c:v>12.56756756756757</c:v>
                </c:pt>
              </c:numCache>
            </c:numRef>
          </c:val>
          <c:spPr>
            <a:gradFill>
              <a:gsLst>
                <a:gs pos="0">
                  <a:srgbClr val="ABB1CB"/>
                </a:gs>
                <a:gs pos="100000">
                  <a:srgbClr val="636C9E"/>
                </a:gs>
              </a:gsLst>
              <a:lin ang="5400000" scaled="1"/>
            </a:gradFill>
          </c:spPr>
        </c:ser>
        <c:dLbls>
          <c:numFmt formatCode="#,##0.##" sourceLinked="0"/>
          <c:txPr>
            <a:bodyPr/>
            <a:lstStyle/>
            <a:p>
              <a:pPr>
                <a:defRPr sz="900">
                  <a:solidFill>
                    <a:srgbClr val="2F3C7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F3C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890A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7315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latin="Microsoft YaHei" ea="Microsoft YaHei">
                <a:solidFill>
                  <a:srgbClr val="FFFFFF"/>
                </a:solidFill>
              </a:defRPr>
            </a:pPr>
            <a:r>
              <a:rPr>
                <a:latin typeface="Microsoft YaHei"/>
              </a:rPr>
              <a:t>DATA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468880"/>
            <a:ext cx="7132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销售数据分析报告</a:t>
            </a:r>
            <a:br/>
            <a:r>
              <a:rPr>
                <a:latin typeface="Microsoft YaHei"/>
              </a:rPr>
              <a:t>防护用例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65760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基础防护测试 | 全特性覆盖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2026.07.07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0" name="Oval 9"/>
          <p:cNvSpPr/>
          <p:nvPr/>
        </p:nvSpPr>
        <p:spPr>
          <a:xfrm>
            <a:off x="9601200" y="5303520"/>
            <a:ext cx="137160" cy="1371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0" y="5029200"/>
            <a:ext cx="91440" cy="91440"/>
          </a:xfrm>
          <a:prstGeom prst="ellipse">
            <a:avLst/>
          </a:prstGeom>
          <a:solidFill>
            <a:srgbClr val="88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5394960"/>
            <a:ext cx="109728" cy="109728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0" y="5669280"/>
            <a:ext cx="73152" cy="73152"/>
          </a:xfrm>
          <a:prstGeom prst="ellipse">
            <a:avLst/>
          </a:prstGeom>
          <a:solidFill>
            <a:srgbClr val="88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6309360"/>
            <a:ext cx="6858000" cy="27432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latin="Microsoft YaHei" ea="Microsoft YaHei">
                <a:solidFill>
                  <a:srgbClr val="FFFFFF"/>
                </a:solidFill>
              </a:defRPr>
            </a:pPr>
            <a:r>
              <a:rPr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01  一、销售汇总分析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02  各地区销售汇总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03  多维统计分析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04  销售额分箱分布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05  分析结论与说明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06  block合并测试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07  二、扩展测试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08  城市销售长标签测试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09  三、高级图表与多布局测试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10  季度趋势与地区对比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11  多维度数据一览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12  图表背景说明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13  城市销售额与销量散点图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14  产品销售额分布环形图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15  季度销售额趋势面积图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16  地区销售组合图(柱+折线)</a:t>
            </a:r>
          </a:p>
          <a:p>
            <a:pPr>
              <a:spcAft>
                <a:spcPts val="1400"/>
              </a:spcAft>
              <a:defRPr sz="1600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17  地区均价异名映射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" y="91440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2560320"/>
            <a:ext cx="21031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latin="Microsoft YaHei" ea="Microsoft YaHei">
                <a:solidFill>
                  <a:srgbClr val="FFFFFF"/>
                </a:solidFill>
              </a:defRPr>
            </a:pPr>
            <a:r>
              <a:rPr>
                <a:latin typeface="Microsoft YaHei"/>
              </a:rPr>
              <a:t>一、销售汇总分析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各地区销售数据多维分析</a:t>
            </a:r>
          </a:p>
        </p:txBody>
      </p:sp>
      <p:sp>
        <p:nvSpPr>
          <p:cNvPr id="7" name="Oval 6"/>
          <p:cNvSpPr/>
          <p:nvPr/>
        </p:nvSpPr>
        <p:spPr>
          <a:xfrm>
            <a:off x="10972800" y="6217920"/>
            <a:ext cx="73152" cy="7315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6035040"/>
            <a:ext cx="45720" cy="457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各地区销售汇总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777240"/>
            <a:ext cx="9966960" cy="36576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✦ 销售额最高地区: 华东 (4800)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6217920" y="109728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多维统计分析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销售额分箱分布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777240"/>
            <a:ext cx="9966960" cy="36576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✦ 共 3 个区间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分析结论与说明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097280"/>
            <a:ext cx="5120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本报告基于测试数据生成，覆盖以下特性：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1. 透视分析（分组、交叉表、占比、分箱）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2. 多种图表类型（柱状图、饼图、折线图）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3. 配置化PPT生成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4. 结论模板自动填充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5. 目录/章节/结尾页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6. X轴长标签自动旋转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block合并测试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" y="91440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2560320"/>
            <a:ext cx="21031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latin="Microsoft YaHei" ea="Microsoft YaHei">
                <a:solidFill>
                  <a:srgbClr val="FFFFFF"/>
                </a:solidFill>
              </a:defRPr>
            </a:pPr>
            <a:r>
              <a:rPr>
                <a:latin typeface="Microsoft YaHei"/>
              </a:rPr>
              <a:t>二、扩展测试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长标签与布局验证</a:t>
            </a:r>
          </a:p>
        </p:txBody>
      </p:sp>
      <p:sp>
        <p:nvSpPr>
          <p:cNvPr id="7" name="Oval 6"/>
          <p:cNvSpPr/>
          <p:nvPr/>
        </p:nvSpPr>
        <p:spPr>
          <a:xfrm>
            <a:off x="10972800" y="6217920"/>
            <a:ext cx="73152" cy="7315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6035040"/>
            <a:ext cx="45720" cy="457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城市销售长标签测试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777240"/>
            <a:ext cx="9966960" cy="36576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✦ 销售额最高城市: 深圳市 (1800)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54864" cy="54864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88720" y="914400"/>
            <a:ext cx="36576" cy="36576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914400"/>
            <a:ext cx="54864" cy="54864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914400"/>
            <a:ext cx="36576" cy="36576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2560320"/>
            <a:ext cx="82296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 latin="Microsoft YaHei" ea="Microsoft YaHei">
                <a:solidFill>
                  <a:srgbClr val="FFFFFF"/>
                </a:solidFill>
              </a:defRPr>
            </a:pPr>
            <a:r>
              <a:rPr>
                <a:latin typeface="Microsoft YaHei"/>
              </a:rPr>
              <a:t>谢谢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防护用例测试完成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" y="914400"/>
            <a:ext cx="54864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2560320"/>
            <a:ext cx="21031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latin="Microsoft YaHei" ea="Microsoft YaHei">
                <a:solidFill>
                  <a:srgbClr val="FFFFFF"/>
                </a:solidFill>
              </a:defRPr>
            </a:pPr>
            <a:r>
              <a:rPr>
                <a:latin typeface="Microsoft YaHei"/>
              </a:rPr>
              <a:t>三、高级图表与多布局测试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散点图 · 环形图 · 面积图 · 组合图 · 多图布局</a:t>
            </a:r>
          </a:p>
        </p:txBody>
      </p:sp>
      <p:sp>
        <p:nvSpPr>
          <p:cNvPr id="7" name="Oval 6"/>
          <p:cNvSpPr/>
          <p:nvPr/>
        </p:nvSpPr>
        <p:spPr>
          <a:xfrm>
            <a:off x="10972800" y="6217920"/>
            <a:ext cx="73152" cy="7315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6035040"/>
            <a:ext cx="45720" cy="457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1005840" y="3749040"/>
            <a:ext cx="10149840" cy="27432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822960"/>
            <a:ext cx="10149840" cy="27432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季度趋势与地区对比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6217920" y="374904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96012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多维度数据一览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Rectangle 12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2560320"/>
            <a:ext cx="10149840" cy="3931919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图表背景说明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2651760"/>
          <a:ext cx="99669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822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布局说明：上方文字区域 + 下方图表区域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此布局适合需要详细文字说明的图表展示。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支持下结论模板自动填充统计值。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城市销售额与销量散点图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777240"/>
            <a:ext cx="9966960" cy="36576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✦ 共 8 个城市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产品销售额分布环形图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季度销售额趋势面积图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777240"/>
            <a:ext cx="9966960" cy="36576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✦ 最高季度: Q2 (7250)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地区销售组合图(柱+折线)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777240"/>
            <a:ext cx="9966960" cy="36576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✦ 销售额最高: 华东 (4800)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54864" cy="54864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88720" y="914400"/>
            <a:ext cx="36576" cy="36576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914400"/>
            <a:ext cx="54864" cy="54864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914400"/>
            <a:ext cx="36576" cy="36576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2560320"/>
            <a:ext cx="82296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 latin="Microsoft YaHei" ea="Microsoft YaHei">
                <a:solidFill>
                  <a:srgbClr val="FFFFFF"/>
                </a:solidFill>
              </a:defRPr>
            </a:pPr>
            <a:r>
              <a:rPr>
                <a:latin typeface="Microsoft YaHei"/>
              </a:rPr>
              <a:t>谢谢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全特性防护用例测试完成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latin="Microsoft YaHei" ea="Microsoft YaHei">
                <a:solidFill>
                  <a:srgbClr val="A0A8B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1005840" y="1097280"/>
            <a:ext cx="10149840" cy="530352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63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548640" y="256032"/>
            <a:ext cx="914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地区均价异名映射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777240"/>
            <a:ext cx="9966960" cy="365760"/>
          </a:xfrm>
          <a:prstGeom prst="roundRect">
            <a:avLst>
              <a:gd name="adj" fmla="val 15000"/>
            </a:avLst>
          </a:prstGeom>
          <a:solidFill>
            <a:srgbClr val="FFF0F0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latin="Microsoft YaHei" ea="Microsoft YaHei">
                <a:solidFill>
                  <a:srgbClr val="2F3C7E"/>
                </a:solidFill>
              </a:defRPr>
            </a:pPr>
            <a:r>
              <a:rPr>
                <a:latin typeface="Microsoft YaHei"/>
              </a:rPr>
              <a:t>✦ 均价最高: 华南 (12.57)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数据分析报告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latin="Microsoft YaHei" ea="Microsoft YaHei">
                <a:solidFill>
                  <a:srgbClr val="8890A0"/>
                </a:solidFill>
              </a:defRPr>
            </a:pPr>
            <a:r>
              <a:rPr>
                <a:latin typeface="Microsoft YaHe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