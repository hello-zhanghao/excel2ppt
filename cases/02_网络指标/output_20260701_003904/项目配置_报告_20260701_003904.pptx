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1.xlsx"/></Relationships>
</file>

<file path=ppt/charts/_rels/chart1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2.xlsx"/></Relationships>
</file>

<file path=ppt/charts/_rels/chart1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3.xlsx"/></Relationships>
</file>

<file path=ppt/charts/_rels/chart1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上行PRB利用率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Sheet1!$C$1</c:f>
              <c:strCache>
                <c:ptCount val="1"/>
                <c:pt idx="0">
                  <c:v>上行PRB利用率</c:v>
                </c:pt>
              </c:strCache>
            </c:strRef>
          </c:tx>
          <c:spPr>
            <a:solidFill>
              <a:srgbClr val="C8102E"/>
            </a:solidFill>
          </c:spPr>
          <c:cat>
            <c:multiLvlStrRef>
              <c:f>Sheet1!$A$2:$B$19</c:f>
              <c:multiLvlStrCache>
                <c:ptCount val="18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5</c:v>
                  </c:pt>
                  <c:pt idx="4">
                    <c:v>10</c:v>
                  </c:pt>
                  <c:pt idx="5">
                    <c:v>20</c:v>
                  </c:pt>
                  <c:pt idx="6">
                    <c:v>10</c:v>
                  </c:pt>
                  <c:pt idx="7">
                    <c:v>25</c:v>
                  </c:pt>
                  <c:pt idx="8">
                    <c:v>10</c:v>
                  </c:pt>
                  <c:pt idx="9">
                    <c:v>15</c:v>
                  </c:pt>
                  <c:pt idx="10">
                    <c:v>20</c:v>
                  </c:pt>
                  <c:pt idx="11">
                    <c:v>10</c:v>
                  </c:pt>
                  <c:pt idx="12">
                    <c:v>20</c:v>
                  </c:pt>
                  <c:pt idx="13">
                    <c:v>25</c:v>
                  </c:pt>
                  <c:pt idx="14">
                    <c:v>40</c:v>
                  </c:pt>
                  <c:pt idx="15">
                    <c:v>60</c:v>
                  </c:pt>
                  <c:pt idx="16">
                    <c:v>40</c:v>
                  </c:pt>
                  <c:pt idx="17">
                    <c:v>60</c:v>
                  </c:pt>
                </c:lvl>
                <c:lvl>
                  <c:pt idx="0">
                    <c:v>700M</c:v>
                  </c:pt>
                  <c:pt idx="3">
                    <c:v>800M</c:v>
                  </c:pt>
                  <c:pt idx="6">
                    <c:v>900M</c:v>
                  </c:pt>
                  <c:pt idx="8">
                    <c:v>1.8G</c:v>
                  </c:pt>
                  <c:pt idx="11">
                    <c:v>2.1G</c:v>
                  </c:pt>
                  <c:pt idx="14">
                    <c:v>2.6G</c:v>
                  </c:pt>
                  <c:pt idx="16">
                    <c:v>2.6G</c:v>
                  </c:pt>
                </c:lvl>
              </c:multiLvlStrCache>
            </c:multiLvl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58.9</c:v>
                </c:pt>
                <c:pt idx="1">
                  <c:v>72.3</c:v>
                </c:pt>
                <c:pt idx="2">
                  <c:v>26.4</c:v>
                </c:pt>
                <c:pt idx="3">
                  <c:v>25.3</c:v>
                </c:pt>
                <c:pt idx="4">
                  <c:v>30.4</c:v>
                </c:pt>
                <c:pt idx="5">
                  <c:v>53.4</c:v>
                </c:pt>
                <c:pt idx="6">
                  <c:v>70.7</c:v>
                </c:pt>
                <c:pt idx="7">
                  <c:v>70.3</c:v>
                </c:pt>
                <c:pt idx="8">
                  <c:v>43.8</c:v>
                </c:pt>
                <c:pt idx="9">
                  <c:v>39.3</c:v>
                </c:pt>
                <c:pt idx="10">
                  <c:v>37.1</c:v>
                </c:pt>
                <c:pt idx="11">
                  <c:v>71.4</c:v>
                </c:pt>
                <c:pt idx="12">
                  <c:v>32.4</c:v>
                </c:pt>
                <c:pt idx="13">
                  <c:v>44.2</c:v>
                </c:pt>
                <c:pt idx="14">
                  <c:v>33.1</c:v>
                </c:pt>
                <c:pt idx="15">
                  <c:v>38.3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下行PRB利用率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Sheet1!$C$1</c:f>
              <c:strCache>
                <c:ptCount val="1"/>
                <c:pt idx="0">
                  <c:v>下行PRB利用率</c:v>
                </c:pt>
              </c:strCache>
            </c:strRef>
          </c:tx>
          <c:spPr>
            <a:solidFill>
              <a:srgbClr val="C8102E"/>
            </a:solidFill>
          </c:spPr>
          <c:cat>
            <c:multiLvlStrRef>
              <c:f>Sheet1!$A$2:$B$19</c:f>
              <c:multiLvlStrCache>
                <c:ptCount val="18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5</c:v>
                  </c:pt>
                  <c:pt idx="4">
                    <c:v>10</c:v>
                  </c:pt>
                  <c:pt idx="5">
                    <c:v>20</c:v>
                  </c:pt>
                  <c:pt idx="6">
                    <c:v>10</c:v>
                  </c:pt>
                  <c:pt idx="7">
                    <c:v>25</c:v>
                  </c:pt>
                  <c:pt idx="8">
                    <c:v>10</c:v>
                  </c:pt>
                  <c:pt idx="9">
                    <c:v>15</c:v>
                  </c:pt>
                  <c:pt idx="10">
                    <c:v>20</c:v>
                  </c:pt>
                  <c:pt idx="11">
                    <c:v>10</c:v>
                  </c:pt>
                  <c:pt idx="12">
                    <c:v>20</c:v>
                  </c:pt>
                  <c:pt idx="13">
                    <c:v>25</c:v>
                  </c:pt>
                  <c:pt idx="14">
                    <c:v>40</c:v>
                  </c:pt>
                  <c:pt idx="15">
                    <c:v>60</c:v>
                  </c:pt>
                  <c:pt idx="16">
                    <c:v>40</c:v>
                  </c:pt>
                  <c:pt idx="17">
                    <c:v>60</c:v>
                  </c:pt>
                </c:lvl>
                <c:lvl>
                  <c:pt idx="0">
                    <c:v>700M</c:v>
                  </c:pt>
                  <c:pt idx="3">
                    <c:v>800M</c:v>
                  </c:pt>
                  <c:pt idx="6">
                    <c:v>900M</c:v>
                  </c:pt>
                  <c:pt idx="8">
                    <c:v>1.8G</c:v>
                  </c:pt>
                  <c:pt idx="11">
                    <c:v>2.1G</c:v>
                  </c:pt>
                  <c:pt idx="14">
                    <c:v>2.6G</c:v>
                  </c:pt>
                  <c:pt idx="16">
                    <c:v>2.6G</c:v>
                  </c:pt>
                </c:lvl>
              </c:multiLvlStrCache>
            </c:multiLvl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33.4</c:v>
                </c:pt>
                <c:pt idx="1">
                  <c:v>36.9</c:v>
                </c:pt>
                <c:pt idx="2">
                  <c:v>43.1</c:v>
                </c:pt>
                <c:pt idx="3">
                  <c:v>77.1</c:v>
                </c:pt>
                <c:pt idx="4">
                  <c:v>53.3</c:v>
                </c:pt>
                <c:pt idx="5">
                  <c:v>86.5</c:v>
                </c:pt>
                <c:pt idx="6">
                  <c:v>64.3</c:v>
                </c:pt>
                <c:pt idx="7">
                  <c:v>80.5</c:v>
                </c:pt>
                <c:pt idx="8">
                  <c:v>69.5</c:v>
                </c:pt>
                <c:pt idx="9">
                  <c:v>83.8</c:v>
                </c:pt>
                <c:pt idx="10">
                  <c:v>33.8</c:v>
                </c:pt>
                <c:pt idx="11">
                  <c:v>49.6</c:v>
                </c:pt>
                <c:pt idx="12">
                  <c:v>73.7</c:v>
                </c:pt>
                <c:pt idx="13">
                  <c:v>87.9</c:v>
                </c:pt>
                <c:pt idx="14">
                  <c:v>41</c:v>
                </c:pt>
                <c:pt idx="15">
                  <c:v>63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各频段站点数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Sheet1!$C$1</c:f>
              <c:strCache>
                <c:ptCount val="1"/>
                <c:pt idx="0">
                  <c:v>站点数</c:v>
                </c:pt>
              </c:strCache>
            </c:strRef>
          </c:tx>
          <c:spPr>
            <a:ln w="25400">
              <a:solidFill>
                <a:srgbClr val="C8102E"/>
              </a:solidFill>
            </a:ln>
          </c:spPr>
          <c:marker>
            <c:symbol val="circle"/>
            <c:size val="6"/>
            <c:spPr>
              <a:solidFill>
                <a:srgbClr val="C8102E"/>
              </a:solidFill>
              <a:ln>
                <a:solidFill>
                  <a:srgbClr val="C8102E"/>
                </a:solidFill>
              </a:ln>
            </c:spPr>
          </c:marker>
          <c:cat>
            <c:multiLvlStrRef>
              <c:f>Sheet1!$A$2:$B$19</c:f>
              <c:multiLvlStrCache>
                <c:ptCount val="18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5</c:v>
                  </c:pt>
                  <c:pt idx="4">
                    <c:v>10</c:v>
                  </c:pt>
                  <c:pt idx="5">
                    <c:v>20</c:v>
                  </c:pt>
                  <c:pt idx="6">
                    <c:v>10</c:v>
                  </c:pt>
                  <c:pt idx="7">
                    <c:v>25</c:v>
                  </c:pt>
                  <c:pt idx="8">
                    <c:v>10</c:v>
                  </c:pt>
                  <c:pt idx="9">
                    <c:v>15</c:v>
                  </c:pt>
                  <c:pt idx="10">
                    <c:v>20</c:v>
                  </c:pt>
                  <c:pt idx="11">
                    <c:v>10</c:v>
                  </c:pt>
                  <c:pt idx="12">
                    <c:v>20</c:v>
                  </c:pt>
                  <c:pt idx="13">
                    <c:v>25</c:v>
                  </c:pt>
                  <c:pt idx="14">
                    <c:v>40</c:v>
                  </c:pt>
                  <c:pt idx="15">
                    <c:v>60</c:v>
                  </c:pt>
                  <c:pt idx="16">
                    <c:v>40</c:v>
                  </c:pt>
                  <c:pt idx="17">
                    <c:v>60</c:v>
                  </c:pt>
                </c:lvl>
                <c:lvl>
                  <c:pt idx="0">
                    <c:v>700M</c:v>
                  </c:pt>
                  <c:pt idx="3">
                    <c:v>800M</c:v>
                  </c:pt>
                  <c:pt idx="6">
                    <c:v>900M</c:v>
                  </c:pt>
                  <c:pt idx="8">
                    <c:v>1.8G</c:v>
                  </c:pt>
                  <c:pt idx="11">
                    <c:v>2.1G</c:v>
                  </c:pt>
                  <c:pt idx="14">
                    <c:v>2.6G</c:v>
                  </c:pt>
                  <c:pt idx="16">
                    <c:v>2.6G</c:v>
                  </c:pt>
                </c:lvl>
              </c:multiLvlStrCache>
            </c:multiLvl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1083</c:v>
                </c:pt>
                <c:pt idx="1">
                  <c:v>210</c:v>
                </c:pt>
                <c:pt idx="2">
                  <c:v>1798</c:v>
                </c:pt>
                <c:pt idx="3">
                  <c:v>1473</c:v>
                </c:pt>
                <c:pt idx="4">
                  <c:v>1488</c:v>
                </c:pt>
                <c:pt idx="5">
                  <c:v>402</c:v>
                </c:pt>
                <c:pt idx="6">
                  <c:v>267</c:v>
                </c:pt>
                <c:pt idx="7">
                  <c:v>1218</c:v>
                </c:pt>
                <c:pt idx="8">
                  <c:v>780</c:v>
                </c:pt>
                <c:pt idx="9">
                  <c:v>979</c:v>
                </c:pt>
                <c:pt idx="10">
                  <c:v>1723</c:v>
                </c:pt>
                <c:pt idx="11">
                  <c:v>1700</c:v>
                </c:pt>
                <c:pt idx="12">
                  <c:v>1156</c:v>
                </c:pt>
                <c:pt idx="13">
                  <c:v>2167</c:v>
                </c:pt>
                <c:pt idx="14">
                  <c:v>340</c:v>
                </c:pt>
                <c:pt idx="15">
                  <c:v>549</c:v>
                </c:pt>
              </c:numCache>
            </c:numRef>
          </c:val>
          <c:smooth val="0"/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2140495176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各频段小区数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Sheet1!$C$1</c:f>
              <c:strCache>
                <c:ptCount val="1"/>
                <c:pt idx="0">
                  <c:v>小区数</c:v>
                </c:pt>
              </c:strCache>
            </c:strRef>
          </c:tx>
          <c:spPr>
            <a:ln w="25400">
              <a:solidFill>
                <a:srgbClr val="C8102E"/>
              </a:solidFill>
            </a:ln>
          </c:spPr>
          <c:marker>
            <c:symbol val="circle"/>
            <c:size val="6"/>
            <c:spPr>
              <a:solidFill>
                <a:srgbClr val="C8102E"/>
              </a:solidFill>
              <a:ln>
                <a:solidFill>
                  <a:srgbClr val="C8102E"/>
                </a:solidFill>
              </a:ln>
            </c:spPr>
          </c:marker>
          <c:cat>
            <c:multiLvlStrRef>
              <c:f>Sheet1!$A$2:$B$19</c:f>
              <c:multiLvlStrCache>
                <c:ptCount val="18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5</c:v>
                  </c:pt>
                  <c:pt idx="4">
                    <c:v>10</c:v>
                  </c:pt>
                  <c:pt idx="5">
                    <c:v>20</c:v>
                  </c:pt>
                  <c:pt idx="6">
                    <c:v>10</c:v>
                  </c:pt>
                  <c:pt idx="7">
                    <c:v>25</c:v>
                  </c:pt>
                  <c:pt idx="8">
                    <c:v>10</c:v>
                  </c:pt>
                  <c:pt idx="9">
                    <c:v>15</c:v>
                  </c:pt>
                  <c:pt idx="10">
                    <c:v>20</c:v>
                  </c:pt>
                  <c:pt idx="11">
                    <c:v>10</c:v>
                  </c:pt>
                  <c:pt idx="12">
                    <c:v>20</c:v>
                  </c:pt>
                  <c:pt idx="13">
                    <c:v>25</c:v>
                  </c:pt>
                  <c:pt idx="14">
                    <c:v>40</c:v>
                  </c:pt>
                  <c:pt idx="15">
                    <c:v>60</c:v>
                  </c:pt>
                  <c:pt idx="16">
                    <c:v>40</c:v>
                  </c:pt>
                  <c:pt idx="17">
                    <c:v>60</c:v>
                  </c:pt>
                </c:lvl>
                <c:lvl>
                  <c:pt idx="0">
                    <c:v>700M</c:v>
                  </c:pt>
                  <c:pt idx="3">
                    <c:v>800M</c:v>
                  </c:pt>
                  <c:pt idx="6">
                    <c:v>900M</c:v>
                  </c:pt>
                  <c:pt idx="8">
                    <c:v>1.8G</c:v>
                  </c:pt>
                  <c:pt idx="11">
                    <c:v>2.1G</c:v>
                  </c:pt>
                  <c:pt idx="14">
                    <c:v>2.6G</c:v>
                  </c:pt>
                  <c:pt idx="16">
                    <c:v>2.6G</c:v>
                  </c:pt>
                </c:lvl>
              </c:multiLvlStrCache>
            </c:multiLvl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2770</c:v>
                </c:pt>
                <c:pt idx="1">
                  <c:v>435</c:v>
                </c:pt>
                <c:pt idx="2">
                  <c:v>4586</c:v>
                </c:pt>
                <c:pt idx="3">
                  <c:v>3969</c:v>
                </c:pt>
                <c:pt idx="4">
                  <c:v>5221</c:v>
                </c:pt>
                <c:pt idx="5">
                  <c:v>1358</c:v>
                </c:pt>
                <c:pt idx="6">
                  <c:v>975</c:v>
                </c:pt>
                <c:pt idx="7">
                  <c:v>3816</c:v>
                </c:pt>
                <c:pt idx="8">
                  <c:v>2601</c:v>
                </c:pt>
                <c:pt idx="9">
                  <c:v>3633</c:v>
                </c:pt>
                <c:pt idx="10">
                  <c:v>4599</c:v>
                </c:pt>
                <c:pt idx="11">
                  <c:v>7159</c:v>
                </c:pt>
                <c:pt idx="12">
                  <c:v>4470</c:v>
                </c:pt>
                <c:pt idx="13">
                  <c:v>7007</c:v>
                </c:pt>
                <c:pt idx="14">
                  <c:v>1007</c:v>
                </c:pt>
                <c:pt idx="15">
                  <c:v>2033</c:v>
                </c:pt>
              </c:numCache>
            </c:numRef>
          </c:val>
          <c:smooth val="0"/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2140495176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各频段用户数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Sheet1!$C$1</c:f>
              <c:strCache>
                <c:ptCount val="1"/>
                <c:pt idx="0">
                  <c:v>用户数</c:v>
                </c:pt>
              </c:strCache>
            </c:strRef>
          </c:tx>
          <c:spPr>
            <a:solidFill>
              <a:srgbClr val="C8102E"/>
            </a:solidFill>
          </c:spPr>
          <c:cat>
            <c:multiLvlStrRef>
              <c:f>Sheet1!$A$2:$B$19</c:f>
              <c:multiLvlStrCache>
                <c:ptCount val="18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5</c:v>
                  </c:pt>
                  <c:pt idx="4">
                    <c:v>10</c:v>
                  </c:pt>
                  <c:pt idx="5">
                    <c:v>20</c:v>
                  </c:pt>
                  <c:pt idx="6">
                    <c:v>10</c:v>
                  </c:pt>
                  <c:pt idx="7">
                    <c:v>25</c:v>
                  </c:pt>
                  <c:pt idx="8">
                    <c:v>10</c:v>
                  </c:pt>
                  <c:pt idx="9">
                    <c:v>15</c:v>
                  </c:pt>
                  <c:pt idx="10">
                    <c:v>20</c:v>
                  </c:pt>
                  <c:pt idx="11">
                    <c:v>10</c:v>
                  </c:pt>
                  <c:pt idx="12">
                    <c:v>20</c:v>
                  </c:pt>
                  <c:pt idx="13">
                    <c:v>25</c:v>
                  </c:pt>
                  <c:pt idx="14">
                    <c:v>40</c:v>
                  </c:pt>
                  <c:pt idx="15">
                    <c:v>60</c:v>
                  </c:pt>
                  <c:pt idx="16">
                    <c:v>40</c:v>
                  </c:pt>
                  <c:pt idx="17">
                    <c:v>60</c:v>
                  </c:pt>
                </c:lvl>
                <c:lvl>
                  <c:pt idx="0">
                    <c:v>700M</c:v>
                  </c:pt>
                  <c:pt idx="3">
                    <c:v>800M</c:v>
                  </c:pt>
                  <c:pt idx="6">
                    <c:v>900M</c:v>
                  </c:pt>
                  <c:pt idx="8">
                    <c:v>1.8G</c:v>
                  </c:pt>
                  <c:pt idx="11">
                    <c:v>2.1G</c:v>
                  </c:pt>
                  <c:pt idx="14">
                    <c:v>2.6G</c:v>
                  </c:pt>
                  <c:pt idx="16">
                    <c:v>2.6G</c:v>
                  </c:pt>
                </c:lvl>
              </c:multiLvlStrCache>
            </c:multiLvl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4806</c:v>
                </c:pt>
                <c:pt idx="1">
                  <c:v>7212</c:v>
                </c:pt>
                <c:pt idx="2">
                  <c:v>9228</c:v>
                </c:pt>
                <c:pt idx="3">
                  <c:v>7224</c:v>
                </c:pt>
                <c:pt idx="4">
                  <c:v>6181</c:v>
                </c:pt>
                <c:pt idx="5">
                  <c:v>6501</c:v>
                </c:pt>
                <c:pt idx="6">
                  <c:v>1439</c:v>
                </c:pt>
                <c:pt idx="7">
                  <c:v>6527</c:v>
                </c:pt>
                <c:pt idx="8">
                  <c:v>1469</c:v>
                </c:pt>
                <c:pt idx="9">
                  <c:v>9425</c:v>
                </c:pt>
                <c:pt idx="10">
                  <c:v>5468</c:v>
                </c:pt>
                <c:pt idx="11">
                  <c:v>8479</c:v>
                </c:pt>
                <c:pt idx="12">
                  <c:v>9130</c:v>
                </c:pt>
                <c:pt idx="13">
                  <c:v>2566</c:v>
                </c:pt>
                <c:pt idx="14">
                  <c:v>7216</c:v>
                </c:pt>
                <c:pt idx="15">
                  <c:v>488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上行PRB趋势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Sheet1!$C$1</c:f>
              <c:strCache>
                <c:ptCount val="1"/>
                <c:pt idx="0">
                  <c:v>上行PRB利用率</c:v>
                </c:pt>
              </c:strCache>
            </c:strRef>
          </c:tx>
          <c:spPr>
            <a:ln w="25400">
              <a:solidFill>
                <a:srgbClr val="C8102E"/>
              </a:solidFill>
            </a:ln>
          </c:spPr>
          <c:marker>
            <c:symbol val="circle"/>
            <c:size val="6"/>
            <c:spPr>
              <a:solidFill>
                <a:srgbClr val="C8102E"/>
              </a:solidFill>
              <a:ln>
                <a:solidFill>
                  <a:srgbClr val="C8102E"/>
                </a:solidFill>
              </a:ln>
            </c:spPr>
          </c:marker>
          <c:cat>
            <c:multiLvlStrRef>
              <c:f>Sheet1!$A$2:$B$19</c:f>
              <c:multiLvlStrCache>
                <c:ptCount val="18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5</c:v>
                  </c:pt>
                  <c:pt idx="4">
                    <c:v>10</c:v>
                  </c:pt>
                  <c:pt idx="5">
                    <c:v>20</c:v>
                  </c:pt>
                  <c:pt idx="6">
                    <c:v>10</c:v>
                  </c:pt>
                  <c:pt idx="7">
                    <c:v>25</c:v>
                  </c:pt>
                  <c:pt idx="8">
                    <c:v>10</c:v>
                  </c:pt>
                  <c:pt idx="9">
                    <c:v>15</c:v>
                  </c:pt>
                  <c:pt idx="10">
                    <c:v>20</c:v>
                  </c:pt>
                  <c:pt idx="11">
                    <c:v>10</c:v>
                  </c:pt>
                  <c:pt idx="12">
                    <c:v>20</c:v>
                  </c:pt>
                  <c:pt idx="13">
                    <c:v>25</c:v>
                  </c:pt>
                  <c:pt idx="14">
                    <c:v>40</c:v>
                  </c:pt>
                  <c:pt idx="15">
                    <c:v>60</c:v>
                  </c:pt>
                  <c:pt idx="16">
                    <c:v>40</c:v>
                  </c:pt>
                  <c:pt idx="17">
                    <c:v>60</c:v>
                  </c:pt>
                </c:lvl>
                <c:lvl>
                  <c:pt idx="0">
                    <c:v>700M</c:v>
                  </c:pt>
                  <c:pt idx="3">
                    <c:v>800M</c:v>
                  </c:pt>
                  <c:pt idx="6">
                    <c:v>900M</c:v>
                  </c:pt>
                  <c:pt idx="8">
                    <c:v>1.8G</c:v>
                  </c:pt>
                  <c:pt idx="11">
                    <c:v>2.1G</c:v>
                  </c:pt>
                  <c:pt idx="14">
                    <c:v>2.6G</c:v>
                  </c:pt>
                  <c:pt idx="16">
                    <c:v>2.6G</c:v>
                  </c:pt>
                </c:lvl>
              </c:multiLvlStrCache>
            </c:multiLvl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58.9</c:v>
                </c:pt>
                <c:pt idx="1">
                  <c:v>72.3</c:v>
                </c:pt>
                <c:pt idx="2">
                  <c:v>26.4</c:v>
                </c:pt>
                <c:pt idx="3">
                  <c:v>25.3</c:v>
                </c:pt>
                <c:pt idx="4">
                  <c:v>30.4</c:v>
                </c:pt>
                <c:pt idx="5">
                  <c:v>53.4</c:v>
                </c:pt>
                <c:pt idx="6">
                  <c:v>70.7</c:v>
                </c:pt>
                <c:pt idx="7">
                  <c:v>70.3</c:v>
                </c:pt>
                <c:pt idx="8">
                  <c:v>43.8</c:v>
                </c:pt>
                <c:pt idx="9">
                  <c:v>39.3</c:v>
                </c:pt>
                <c:pt idx="10">
                  <c:v>37.1</c:v>
                </c:pt>
                <c:pt idx="11">
                  <c:v>71.4</c:v>
                </c:pt>
                <c:pt idx="12">
                  <c:v>32.4</c:v>
                </c:pt>
                <c:pt idx="13">
                  <c:v>44.2</c:v>
                </c:pt>
                <c:pt idx="14">
                  <c:v>33.1</c:v>
                </c:pt>
                <c:pt idx="15">
                  <c:v>38.3</c:v>
                </c:pt>
              </c:numCache>
            </c:numRef>
          </c:val>
          <c:smooth val="0"/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2140495176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下行PRB趋势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Sheet1!$C$1</c:f>
              <c:strCache>
                <c:ptCount val="1"/>
                <c:pt idx="0">
                  <c:v>下行PRB利用率</c:v>
                </c:pt>
              </c:strCache>
            </c:strRef>
          </c:tx>
          <c:spPr>
            <a:ln w="25400">
              <a:solidFill>
                <a:srgbClr val="C8102E"/>
              </a:solidFill>
            </a:ln>
          </c:spPr>
          <c:marker>
            <c:symbol val="circle"/>
            <c:size val="6"/>
            <c:spPr>
              <a:solidFill>
                <a:srgbClr val="C8102E"/>
              </a:solidFill>
              <a:ln>
                <a:solidFill>
                  <a:srgbClr val="C8102E"/>
                </a:solidFill>
              </a:ln>
            </c:spPr>
          </c:marker>
          <c:cat>
            <c:multiLvlStrRef>
              <c:f>Sheet1!$A$2:$B$19</c:f>
              <c:multiLvlStrCache>
                <c:ptCount val="18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5</c:v>
                  </c:pt>
                  <c:pt idx="4">
                    <c:v>10</c:v>
                  </c:pt>
                  <c:pt idx="5">
                    <c:v>20</c:v>
                  </c:pt>
                  <c:pt idx="6">
                    <c:v>10</c:v>
                  </c:pt>
                  <c:pt idx="7">
                    <c:v>25</c:v>
                  </c:pt>
                  <c:pt idx="8">
                    <c:v>10</c:v>
                  </c:pt>
                  <c:pt idx="9">
                    <c:v>15</c:v>
                  </c:pt>
                  <c:pt idx="10">
                    <c:v>20</c:v>
                  </c:pt>
                  <c:pt idx="11">
                    <c:v>10</c:v>
                  </c:pt>
                  <c:pt idx="12">
                    <c:v>20</c:v>
                  </c:pt>
                  <c:pt idx="13">
                    <c:v>25</c:v>
                  </c:pt>
                  <c:pt idx="14">
                    <c:v>40</c:v>
                  </c:pt>
                  <c:pt idx="15">
                    <c:v>60</c:v>
                  </c:pt>
                  <c:pt idx="16">
                    <c:v>40</c:v>
                  </c:pt>
                  <c:pt idx="17">
                    <c:v>60</c:v>
                  </c:pt>
                </c:lvl>
                <c:lvl>
                  <c:pt idx="0">
                    <c:v>700M</c:v>
                  </c:pt>
                  <c:pt idx="3">
                    <c:v>800M</c:v>
                  </c:pt>
                  <c:pt idx="6">
                    <c:v>900M</c:v>
                  </c:pt>
                  <c:pt idx="8">
                    <c:v>1.8G</c:v>
                  </c:pt>
                  <c:pt idx="11">
                    <c:v>2.1G</c:v>
                  </c:pt>
                  <c:pt idx="14">
                    <c:v>2.6G</c:v>
                  </c:pt>
                  <c:pt idx="16">
                    <c:v>2.6G</c:v>
                  </c:pt>
                </c:lvl>
              </c:multiLvlStrCache>
            </c:multiLvl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33.4</c:v>
                </c:pt>
                <c:pt idx="1">
                  <c:v>36.9</c:v>
                </c:pt>
                <c:pt idx="2">
                  <c:v>43.1</c:v>
                </c:pt>
                <c:pt idx="3">
                  <c:v>77.1</c:v>
                </c:pt>
                <c:pt idx="4">
                  <c:v>53.3</c:v>
                </c:pt>
                <c:pt idx="5">
                  <c:v>86.5</c:v>
                </c:pt>
                <c:pt idx="6">
                  <c:v>64.3</c:v>
                </c:pt>
                <c:pt idx="7">
                  <c:v>80.5</c:v>
                </c:pt>
                <c:pt idx="8">
                  <c:v>69.5</c:v>
                </c:pt>
                <c:pt idx="9">
                  <c:v>83.8</c:v>
                </c:pt>
                <c:pt idx="10">
                  <c:v>33.8</c:v>
                </c:pt>
                <c:pt idx="11">
                  <c:v>49.6</c:v>
                </c:pt>
                <c:pt idx="12">
                  <c:v>73.7</c:v>
                </c:pt>
                <c:pt idx="13">
                  <c:v>87.9</c:v>
                </c:pt>
                <c:pt idx="14">
                  <c:v>41</c:v>
                </c:pt>
                <c:pt idx="15">
                  <c:v>63</c:v>
                </c:pt>
              </c:numCache>
            </c:numRef>
          </c:val>
          <c:smooth val="0"/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2140495176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上行重载小区数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Sheet1!$C$1</c:f>
              <c:strCache>
                <c:ptCount val="1"/>
                <c:pt idx="0">
                  <c:v>上行重载小区数</c:v>
                </c:pt>
              </c:strCache>
            </c:strRef>
          </c:tx>
          <c:spPr>
            <a:solidFill>
              <a:srgbClr val="C8102E"/>
            </a:solidFill>
          </c:spPr>
          <c:cat>
            <c:multiLvlStrRef>
              <c:f>Sheet1!$A$2:$B$19</c:f>
              <c:multiLvlStrCache>
                <c:ptCount val="18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5</c:v>
                  </c:pt>
                  <c:pt idx="4">
                    <c:v>10</c:v>
                  </c:pt>
                  <c:pt idx="5">
                    <c:v>20</c:v>
                  </c:pt>
                  <c:pt idx="6">
                    <c:v>10</c:v>
                  </c:pt>
                  <c:pt idx="7">
                    <c:v>25</c:v>
                  </c:pt>
                  <c:pt idx="8">
                    <c:v>10</c:v>
                  </c:pt>
                  <c:pt idx="9">
                    <c:v>15</c:v>
                  </c:pt>
                  <c:pt idx="10">
                    <c:v>20</c:v>
                  </c:pt>
                  <c:pt idx="11">
                    <c:v>10</c:v>
                  </c:pt>
                  <c:pt idx="12">
                    <c:v>20</c:v>
                  </c:pt>
                  <c:pt idx="13">
                    <c:v>25</c:v>
                  </c:pt>
                  <c:pt idx="14">
                    <c:v>40</c:v>
                  </c:pt>
                  <c:pt idx="15">
                    <c:v>60</c:v>
                  </c:pt>
                  <c:pt idx="16">
                    <c:v>40</c:v>
                  </c:pt>
                  <c:pt idx="17">
                    <c:v>60</c:v>
                  </c:pt>
                </c:lvl>
                <c:lvl>
                  <c:pt idx="0">
                    <c:v>700M</c:v>
                  </c:pt>
                  <c:pt idx="3">
                    <c:v>800M</c:v>
                  </c:pt>
                  <c:pt idx="6">
                    <c:v>900M</c:v>
                  </c:pt>
                  <c:pt idx="8">
                    <c:v>1.8G</c:v>
                  </c:pt>
                  <c:pt idx="11">
                    <c:v>2.1G</c:v>
                  </c:pt>
                  <c:pt idx="14">
                    <c:v>2.6G</c:v>
                  </c:pt>
                  <c:pt idx="16">
                    <c:v>2.6G</c:v>
                  </c:pt>
                </c:lvl>
              </c:multiLvlStrCache>
            </c:multiLvl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797</c:v>
                </c:pt>
                <c:pt idx="1">
                  <c:v>46</c:v>
                </c:pt>
                <c:pt idx="2">
                  <c:v>1083</c:v>
                </c:pt>
                <c:pt idx="3">
                  <c:v>418</c:v>
                </c:pt>
                <c:pt idx="4">
                  <c:v>1631</c:v>
                </c:pt>
                <c:pt idx="5">
                  <c:v>434</c:v>
                </c:pt>
                <c:pt idx="6">
                  <c:v>293</c:v>
                </c:pt>
                <c:pt idx="7">
                  <c:v>1228</c:v>
                </c:pt>
                <c:pt idx="8">
                  <c:v>300</c:v>
                </c:pt>
                <c:pt idx="9">
                  <c:v>1180</c:v>
                </c:pt>
                <c:pt idx="10">
                  <c:v>477</c:v>
                </c:pt>
                <c:pt idx="11">
                  <c:v>1825</c:v>
                </c:pt>
                <c:pt idx="12">
                  <c:v>804</c:v>
                </c:pt>
                <c:pt idx="13">
                  <c:v>2063</c:v>
                </c:pt>
                <c:pt idx="14">
                  <c:v>240</c:v>
                </c:pt>
                <c:pt idx="15">
                  <c:v>443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下行重载小区数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Sheet1!$C$1</c:f>
              <c:strCache>
                <c:ptCount val="1"/>
                <c:pt idx="0">
                  <c:v>下行重载小区数</c:v>
                </c:pt>
              </c:strCache>
            </c:strRef>
          </c:tx>
          <c:spPr>
            <a:solidFill>
              <a:srgbClr val="C8102E"/>
            </a:solidFill>
          </c:spPr>
          <c:cat>
            <c:multiLvlStrRef>
              <c:f>Sheet1!$A$2:$B$19</c:f>
              <c:multiLvlStrCache>
                <c:ptCount val="18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5</c:v>
                  </c:pt>
                  <c:pt idx="4">
                    <c:v>10</c:v>
                  </c:pt>
                  <c:pt idx="5">
                    <c:v>20</c:v>
                  </c:pt>
                  <c:pt idx="6">
                    <c:v>10</c:v>
                  </c:pt>
                  <c:pt idx="7">
                    <c:v>25</c:v>
                  </c:pt>
                  <c:pt idx="8">
                    <c:v>10</c:v>
                  </c:pt>
                  <c:pt idx="9">
                    <c:v>15</c:v>
                  </c:pt>
                  <c:pt idx="10">
                    <c:v>20</c:v>
                  </c:pt>
                  <c:pt idx="11">
                    <c:v>10</c:v>
                  </c:pt>
                  <c:pt idx="12">
                    <c:v>20</c:v>
                  </c:pt>
                  <c:pt idx="13">
                    <c:v>25</c:v>
                  </c:pt>
                  <c:pt idx="14">
                    <c:v>40</c:v>
                  </c:pt>
                  <c:pt idx="15">
                    <c:v>60</c:v>
                  </c:pt>
                  <c:pt idx="16">
                    <c:v>40</c:v>
                  </c:pt>
                  <c:pt idx="17">
                    <c:v>60</c:v>
                  </c:pt>
                </c:lvl>
                <c:lvl>
                  <c:pt idx="0">
                    <c:v>700M</c:v>
                  </c:pt>
                  <c:pt idx="3">
                    <c:v>800M</c:v>
                  </c:pt>
                  <c:pt idx="6">
                    <c:v>900M</c:v>
                  </c:pt>
                  <c:pt idx="8">
                    <c:v>1.8G</c:v>
                  </c:pt>
                  <c:pt idx="11">
                    <c:v>2.1G</c:v>
                  </c:pt>
                  <c:pt idx="14">
                    <c:v>2.6G</c:v>
                  </c:pt>
                  <c:pt idx="16">
                    <c:v>2.6G</c:v>
                  </c:pt>
                </c:lvl>
              </c:multiLvlStrCache>
            </c:multiLvl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953</c:v>
                </c:pt>
                <c:pt idx="1">
                  <c:v>118</c:v>
                </c:pt>
                <c:pt idx="2">
                  <c:v>1834</c:v>
                </c:pt>
                <c:pt idx="3">
                  <c:v>1510</c:v>
                </c:pt>
                <c:pt idx="4">
                  <c:v>1913</c:v>
                </c:pt>
                <c:pt idx="5">
                  <c:v>434</c:v>
                </c:pt>
                <c:pt idx="6">
                  <c:v>461</c:v>
                </c:pt>
                <c:pt idx="7">
                  <c:v>489</c:v>
                </c:pt>
                <c:pt idx="8">
                  <c:v>661</c:v>
                </c:pt>
                <c:pt idx="9">
                  <c:v>1402</c:v>
                </c:pt>
                <c:pt idx="10">
                  <c:v>2097</c:v>
                </c:pt>
                <c:pt idx="11">
                  <c:v>859</c:v>
                </c:pt>
                <c:pt idx="12">
                  <c:v>1363</c:v>
                </c:pt>
                <c:pt idx="13">
                  <c:v>2954</c:v>
                </c:pt>
                <c:pt idx="14">
                  <c:v>258</c:v>
                </c:pt>
                <c:pt idx="15">
                  <c:v>349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上下行PRB对比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Sheet1!$C$1</c:f>
              <c:strCache>
                <c:ptCount val="1"/>
                <c:pt idx="0">
                  <c:v>上行PRB利用率</c:v>
                </c:pt>
              </c:strCache>
            </c:strRef>
          </c:tx>
          <c:spPr>
            <a:ln w="25400">
              <a:solidFill>
                <a:srgbClr val="C8102E"/>
              </a:solidFill>
            </a:ln>
          </c:spPr>
          <c:marker>
            <c:symbol val="circle"/>
            <c:size val="6"/>
            <c:spPr>
              <a:solidFill>
                <a:srgbClr val="C8102E"/>
              </a:solidFill>
              <a:ln>
                <a:solidFill>
                  <a:srgbClr val="C8102E"/>
                </a:solidFill>
              </a:ln>
            </c:spPr>
          </c:marker>
          <c:cat>
            <c:multiLvlStrRef>
              <c:f>Sheet1!$A$2:$B$19</c:f>
              <c:multiLvlStrCache>
                <c:ptCount val="18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5</c:v>
                  </c:pt>
                  <c:pt idx="4">
                    <c:v>10</c:v>
                  </c:pt>
                  <c:pt idx="5">
                    <c:v>20</c:v>
                  </c:pt>
                  <c:pt idx="6">
                    <c:v>10</c:v>
                  </c:pt>
                  <c:pt idx="7">
                    <c:v>25</c:v>
                  </c:pt>
                  <c:pt idx="8">
                    <c:v>10</c:v>
                  </c:pt>
                  <c:pt idx="9">
                    <c:v>15</c:v>
                  </c:pt>
                  <c:pt idx="10">
                    <c:v>20</c:v>
                  </c:pt>
                  <c:pt idx="11">
                    <c:v>10</c:v>
                  </c:pt>
                  <c:pt idx="12">
                    <c:v>20</c:v>
                  </c:pt>
                  <c:pt idx="13">
                    <c:v>25</c:v>
                  </c:pt>
                  <c:pt idx="14">
                    <c:v>40</c:v>
                  </c:pt>
                  <c:pt idx="15">
                    <c:v>60</c:v>
                  </c:pt>
                  <c:pt idx="16">
                    <c:v>40</c:v>
                  </c:pt>
                  <c:pt idx="17">
                    <c:v>60</c:v>
                  </c:pt>
                </c:lvl>
                <c:lvl>
                  <c:pt idx="0">
                    <c:v>700M</c:v>
                  </c:pt>
                  <c:pt idx="3">
                    <c:v>800M</c:v>
                  </c:pt>
                  <c:pt idx="6">
                    <c:v>900M</c:v>
                  </c:pt>
                  <c:pt idx="8">
                    <c:v>1.8G</c:v>
                  </c:pt>
                  <c:pt idx="11">
                    <c:v>2.1G</c:v>
                  </c:pt>
                  <c:pt idx="14">
                    <c:v>2.6G</c:v>
                  </c:pt>
                  <c:pt idx="16">
                    <c:v>2.6G</c:v>
                  </c:pt>
                </c:lvl>
              </c:multiLvlStrCache>
            </c:multiLvl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58.9</c:v>
                </c:pt>
                <c:pt idx="1">
                  <c:v>72.3</c:v>
                </c:pt>
                <c:pt idx="2">
                  <c:v>26.4</c:v>
                </c:pt>
                <c:pt idx="3">
                  <c:v>25.3</c:v>
                </c:pt>
                <c:pt idx="4">
                  <c:v>30.4</c:v>
                </c:pt>
                <c:pt idx="5">
                  <c:v>53.4</c:v>
                </c:pt>
                <c:pt idx="6">
                  <c:v>70.7</c:v>
                </c:pt>
                <c:pt idx="7">
                  <c:v>70.3</c:v>
                </c:pt>
                <c:pt idx="8">
                  <c:v>43.8</c:v>
                </c:pt>
                <c:pt idx="9">
                  <c:v>39.3</c:v>
                </c:pt>
                <c:pt idx="10">
                  <c:v>37.1</c:v>
                </c:pt>
                <c:pt idx="11">
                  <c:v>71.4</c:v>
                </c:pt>
                <c:pt idx="12">
                  <c:v>32.4</c:v>
                </c:pt>
                <c:pt idx="13">
                  <c:v>44.2</c:v>
                </c:pt>
                <c:pt idx="14">
                  <c:v>33.1</c:v>
                </c:pt>
                <c:pt idx="15">
                  <c:v>38.3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Sheet1!$D$1</c:f>
              <c:strCache>
                <c:ptCount val="1"/>
                <c:pt idx="0">
                  <c:v>下行PRB利用率</c:v>
                </c:pt>
              </c:strCache>
            </c:strRef>
          </c:tx>
          <c:spPr>
            <a:ln w="25400">
              <a:solidFill>
                <a:srgbClr val="182B49"/>
              </a:solidFill>
            </a:ln>
          </c:spPr>
          <c:marker>
            <c:symbol val="circle"/>
            <c:size val="6"/>
            <c:spPr>
              <a:solidFill>
                <a:srgbClr val="182B49"/>
              </a:solidFill>
              <a:ln>
                <a:solidFill>
                  <a:srgbClr val="182B49"/>
                </a:solidFill>
              </a:ln>
            </c:spPr>
          </c:marker>
          <c:cat>
            <c:multiLvlStrRef>
              <c:f>Sheet1!$A$2:$B$19</c:f>
              <c:multiLvlStrCache>
                <c:ptCount val="18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5</c:v>
                  </c:pt>
                  <c:pt idx="4">
                    <c:v>10</c:v>
                  </c:pt>
                  <c:pt idx="5">
                    <c:v>20</c:v>
                  </c:pt>
                  <c:pt idx="6">
                    <c:v>10</c:v>
                  </c:pt>
                  <c:pt idx="7">
                    <c:v>25</c:v>
                  </c:pt>
                  <c:pt idx="8">
                    <c:v>10</c:v>
                  </c:pt>
                  <c:pt idx="9">
                    <c:v>15</c:v>
                  </c:pt>
                  <c:pt idx="10">
                    <c:v>20</c:v>
                  </c:pt>
                  <c:pt idx="11">
                    <c:v>10</c:v>
                  </c:pt>
                  <c:pt idx="12">
                    <c:v>20</c:v>
                  </c:pt>
                  <c:pt idx="13">
                    <c:v>25</c:v>
                  </c:pt>
                  <c:pt idx="14">
                    <c:v>40</c:v>
                  </c:pt>
                  <c:pt idx="15">
                    <c:v>60</c:v>
                  </c:pt>
                  <c:pt idx="16">
                    <c:v>40</c:v>
                  </c:pt>
                  <c:pt idx="17">
                    <c:v>60</c:v>
                  </c:pt>
                </c:lvl>
                <c:lvl>
                  <c:pt idx="0">
                    <c:v>700M</c:v>
                  </c:pt>
                  <c:pt idx="3">
                    <c:v>800M</c:v>
                  </c:pt>
                  <c:pt idx="6">
                    <c:v>900M</c:v>
                  </c:pt>
                  <c:pt idx="8">
                    <c:v>1.8G</c:v>
                  </c:pt>
                  <c:pt idx="11">
                    <c:v>2.1G</c:v>
                  </c:pt>
                  <c:pt idx="14">
                    <c:v>2.6G</c:v>
                  </c:pt>
                  <c:pt idx="16">
                    <c:v>2.6G</c:v>
                  </c:pt>
                </c:lvl>
              </c:multiLvlStrCache>
            </c:multiLvlStrRef>
          </c:cat>
          <c:val>
            <c:numRef>
              <c:f>Sheet1!$D$2:$D$17</c:f>
              <c:numCache>
                <c:formatCode>General</c:formatCode>
                <c:ptCount val="16"/>
                <c:pt idx="0">
                  <c:v>33.4</c:v>
                </c:pt>
                <c:pt idx="1">
                  <c:v>36.9</c:v>
                </c:pt>
                <c:pt idx="2">
                  <c:v>43.1</c:v>
                </c:pt>
                <c:pt idx="3">
                  <c:v>77.1</c:v>
                </c:pt>
                <c:pt idx="4">
                  <c:v>53.3</c:v>
                </c:pt>
                <c:pt idx="5">
                  <c:v>86.5</c:v>
                </c:pt>
                <c:pt idx="6">
                  <c:v>64.3</c:v>
                </c:pt>
                <c:pt idx="7">
                  <c:v>80.5</c:v>
                </c:pt>
                <c:pt idx="8">
                  <c:v>69.5</c:v>
                </c:pt>
                <c:pt idx="9">
                  <c:v>83.8</c:v>
                </c:pt>
                <c:pt idx="10">
                  <c:v>33.8</c:v>
                </c:pt>
                <c:pt idx="11">
                  <c:v>49.6</c:v>
                </c:pt>
                <c:pt idx="12">
                  <c:v>73.7</c:v>
                </c:pt>
                <c:pt idx="13">
                  <c:v>87.9</c:v>
                </c:pt>
                <c:pt idx="14">
                  <c:v>41</c:v>
                </c:pt>
                <c:pt idx="15">
                  <c:v>63</c:v>
                </c:pt>
              </c:numCache>
            </c:numRef>
          </c:val>
          <c:smooth val="0"/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2140495176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>
              <a:solidFill>
                <a:srgbClr val="182B49"/>
              </a:solidFill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站点数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站点数</c:v>
                </c:pt>
              </c:strCache>
            </c:strRef>
          </c:tx>
          <c:spPr>
            <a:solidFill>
              <a:srgbClr val="C8102E"/>
            </a:solidFill>
          </c:spPr>
          <c:cat>
            <c:strRef>
              <c:f>Sheet1!$A$2:$A$9</c:f>
              <c:strCache>
                <c:ptCount val="8"/>
                <c:pt idx="0">
                  <c:v>700M</c:v>
                </c:pt>
                <c:pt idx="1">
                  <c:v>800M</c:v>
                </c:pt>
                <c:pt idx="2">
                  <c:v>900M</c:v>
                </c:pt>
                <c:pt idx="3">
                  <c:v>1.8G</c:v>
                </c:pt>
                <c:pt idx="4">
                  <c:v>2.1G</c:v>
                </c:pt>
                <c:pt idx="5">
                  <c:v>2.6G</c:v>
                </c:pt>
                <c:pt idx="6">
                  <c:v>3.5G</c:v>
                </c:pt>
                <c:pt idx="7">
                  <c:v>5G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1083</c:v>
                </c:pt>
                <c:pt idx="1">
                  <c:v>210</c:v>
                </c:pt>
                <c:pt idx="2">
                  <c:v>1798</c:v>
                </c:pt>
                <c:pt idx="3">
                  <c:v>549</c:v>
                </c:pt>
                <c:pt idx="4">
                  <c:v>727</c:v>
                </c:pt>
                <c:pt idx="5">
                  <c:v>1611</c:v>
                </c:pt>
                <c:pt idx="6">
                  <c:v>2081</c:v>
                </c:pt>
                <c:pt idx="7">
                  <c:v>1066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下行PRB利用率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下行PRB利用率</c:v>
                </c:pt>
              </c:strCache>
            </c:strRef>
          </c:tx>
          <c:spPr>
            <a:solidFill>
              <a:srgbClr val="C8102E"/>
            </a:solidFill>
          </c:spPr>
          <c:cat>
            <c:strRef>
              <c:f>Sheet1!$A$2:$A$9</c:f>
              <c:strCache>
                <c:ptCount val="8"/>
                <c:pt idx="0">
                  <c:v>700M</c:v>
                </c:pt>
                <c:pt idx="1">
                  <c:v>800M</c:v>
                </c:pt>
                <c:pt idx="2">
                  <c:v>900M</c:v>
                </c:pt>
                <c:pt idx="3">
                  <c:v>1.8G</c:v>
                </c:pt>
                <c:pt idx="4">
                  <c:v>2.1G</c:v>
                </c:pt>
                <c:pt idx="5">
                  <c:v>2.6G</c:v>
                </c:pt>
                <c:pt idx="6">
                  <c:v>3.5G</c:v>
                </c:pt>
                <c:pt idx="7">
                  <c:v>5G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33.4</c:v>
                </c:pt>
                <c:pt idx="1">
                  <c:v>36.9</c:v>
                </c:pt>
                <c:pt idx="2">
                  <c:v>43.1</c:v>
                </c:pt>
                <c:pt idx="3">
                  <c:v>63</c:v>
                </c:pt>
                <c:pt idx="4">
                  <c:v>38.2</c:v>
                </c:pt>
                <c:pt idx="5">
                  <c:v>66.1</c:v>
                </c:pt>
                <c:pt idx="6">
                  <c:v>32</c:v>
                </c:pt>
                <c:pt idx="7">
                  <c:v>49.2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各频段站点占比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各频段站点占比</c:v>
                </c:pt>
              </c:strCache>
            </c:strRef>
          </c:tx>
          <c:dPt>
            <c:idx val="0"/>
            <c:spPr>
              <a:solidFill>
                <a:srgbClr val="C8102E"/>
              </a:solidFill>
            </c:spPr>
          </c:dPt>
          <c:dPt>
            <c:idx val="1"/>
            <c:spPr>
              <a:solidFill>
                <a:srgbClr val="182B49"/>
              </a:solidFill>
            </c:spPr>
          </c:dPt>
          <c:dPt>
            <c:idx val="2"/>
            <c:spPr>
              <a:solidFill>
                <a:srgbClr val="5B9BD5"/>
              </a:solidFill>
            </c:spPr>
          </c:dPt>
          <c:dPt>
            <c:idx val="3"/>
            <c:spPr>
              <a:solidFill>
                <a:srgbClr val="ED7D31"/>
              </a:solidFill>
            </c:spPr>
          </c:dPt>
          <c:dPt>
            <c:idx val="4"/>
            <c:spPr>
              <a:solidFill>
                <a:srgbClr val="70AD47"/>
              </a:solidFill>
            </c:spPr>
          </c:dPt>
          <c:dPt>
            <c:idx val="5"/>
            <c:spPr>
              <a:solidFill>
                <a:srgbClr val="A5A5A5"/>
              </a:solidFill>
            </c:spPr>
          </c:dPt>
          <c:dPt>
            <c:idx val="6"/>
            <c:spPr>
              <a:solidFill>
                <a:srgbClr val="FFC000"/>
              </a:solidFill>
            </c:spPr>
          </c:dPt>
          <c:dPt>
            <c:idx val="7"/>
            <c:spPr>
              <a:solidFill>
                <a:srgbClr val="9B59B6"/>
              </a:solidFill>
            </c:spPr>
          </c:dPt>
          <c:cat>
            <c:strRef>
              <c:f>Sheet1!$A$2:$A$9</c:f>
              <c:strCache>
                <c:ptCount val="8"/>
                <c:pt idx="0">
                  <c:v>700M</c:v>
                </c:pt>
                <c:pt idx="1">
                  <c:v>800M</c:v>
                </c:pt>
                <c:pt idx="2">
                  <c:v>900M</c:v>
                </c:pt>
                <c:pt idx="3">
                  <c:v>1.8G</c:v>
                </c:pt>
                <c:pt idx="4">
                  <c:v>2.1G</c:v>
                </c:pt>
                <c:pt idx="5">
                  <c:v>2.6G</c:v>
                </c:pt>
                <c:pt idx="6">
                  <c:v>3.5G</c:v>
                </c:pt>
                <c:pt idx="7">
                  <c:v>5G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1083</c:v>
                </c:pt>
                <c:pt idx="1">
                  <c:v>210</c:v>
                </c:pt>
                <c:pt idx="2">
                  <c:v>1798</c:v>
                </c:pt>
                <c:pt idx="3">
                  <c:v>549</c:v>
                </c:pt>
                <c:pt idx="4">
                  <c:v>727</c:v>
                </c:pt>
                <c:pt idx="5">
                  <c:v>1611</c:v>
                </c:pt>
                <c:pt idx="6">
                  <c:v>2081</c:v>
                </c:pt>
                <c:pt idx="7">
                  <c:v>1066</c:v>
                </c:pt>
              </c:numCache>
            </c:numRef>
          </c:val>
        </c:ser>
        <c:dLbls>
          <c:numFmt formatCode="0.0%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showLegendKey val="0"/>
          <c:showVal val="0"/>
          <c:showCatName val="1"/>
          <c:showSerName val="0"/>
          <c:showPercent val="1"/>
          <c:showBubbleSize val="0"/>
          <c:showLeaderLines val="1"/>
        </c:dLbls>
      </c:pieChart>
    </c:plotArea>
    <c:legend>
      <c:legendPos val="b"/>
      <c:overlay val="0"/>
      <c:txPr>
        <a:bodyPr/>
        <a:lstStyle/>
        <a:p>
          <a:pPr>
            <a:defRPr sz="900">
              <a:solidFill>
                <a:srgbClr val="182B49"/>
              </a:solidFill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站点数(柱) vs 小区数(线)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站点数</c:v>
                </c:pt>
              </c:strCache>
            </c:strRef>
          </c:tx>
          <c:cat>
            <c:strRef>
              <c:f>Sheet1!$A$2:$A$9</c:f>
              <c:strCache>
                <c:ptCount val="8"/>
                <c:pt idx="0">
                  <c:v>700M</c:v>
                </c:pt>
                <c:pt idx="1">
                  <c:v>800M</c:v>
                </c:pt>
                <c:pt idx="2">
                  <c:v>900M</c:v>
                </c:pt>
                <c:pt idx="3">
                  <c:v>1.8G</c:v>
                </c:pt>
                <c:pt idx="4">
                  <c:v>2.1G</c:v>
                </c:pt>
                <c:pt idx="5">
                  <c:v>2.6G</c:v>
                </c:pt>
                <c:pt idx="6">
                  <c:v>3.5G</c:v>
                </c:pt>
                <c:pt idx="7">
                  <c:v>5G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1083</c:v>
                </c:pt>
                <c:pt idx="1">
                  <c:v>210</c:v>
                </c:pt>
                <c:pt idx="2">
                  <c:v>1798</c:v>
                </c:pt>
                <c:pt idx="3">
                  <c:v>549</c:v>
                </c:pt>
                <c:pt idx="4">
                  <c:v>727</c:v>
                </c:pt>
                <c:pt idx="5">
                  <c:v>1611</c:v>
                </c:pt>
                <c:pt idx="6">
                  <c:v>2081</c:v>
                </c:pt>
                <c:pt idx="7">
                  <c:v>1066</c:v>
                </c:pt>
              </c:numCache>
            </c:numRef>
          </c:val>
          <c:spPr>
            <a:solidFill>
              <a:srgbClr val="C8102E"/>
            </a:solidFill>
          </c:spPr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crossAx val="-2068027336"/>
        <c:crosses val="autoZero"/>
      </c:valAx>
      <c:lineChart>
        <c:grouping val="standard"/>
        <c:ser>
          <c:idx val="1"/>
          <c:order val="1"/>
          <c:tx>
            <c:strRef>
              <c:f>Sheet1!$C$1</c:f>
              <c:strCache>
                <c:ptCount val="1"/>
                <c:pt idx="0">
                  <c:v>小区数</c:v>
                </c:pt>
              </c:strCache>
            </c:strRef>
          </c:tx>
          <c:cat>
            <c:strRef>
              <c:f>Sheet1!$A$2:$A$9</c:f>
              <c:strCache>
                <c:ptCount val="8"/>
                <c:pt idx="0">
                  <c:v>700M</c:v>
                </c:pt>
                <c:pt idx="1">
                  <c:v>800M</c:v>
                </c:pt>
                <c:pt idx="2">
                  <c:v>900M</c:v>
                </c:pt>
                <c:pt idx="3">
                  <c:v>1.8G</c:v>
                </c:pt>
                <c:pt idx="4">
                  <c:v>2.1G</c:v>
                </c:pt>
                <c:pt idx="5">
                  <c:v>2.6G</c:v>
                </c:pt>
                <c:pt idx="6">
                  <c:v>3.5G</c:v>
                </c:pt>
                <c:pt idx="7">
                  <c:v>5G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2770</c:v>
                </c:pt>
                <c:pt idx="1">
                  <c:v>435</c:v>
                </c:pt>
                <c:pt idx="2">
                  <c:v>4586</c:v>
                </c:pt>
                <c:pt idx="3">
                  <c:v>2033</c:v>
                </c:pt>
                <c:pt idx="4">
                  <c:v>2278</c:v>
                </c:pt>
                <c:pt idx="5">
                  <c:v>6293</c:v>
                </c:pt>
                <c:pt idx="6">
                  <c:v>4263</c:v>
                </c:pt>
                <c:pt idx="7">
                  <c:v>4471</c:v>
                </c:pt>
              </c:numCache>
            </c:numRef>
          </c:val>
          <c:spPr>
            <a:ln w="25400">
              <a:solidFill>
                <a:srgbClr val="182B49"/>
              </a:solidFill>
            </a:ln>
          </c:spPr>
          <c:marker>
            <c:symbol val="circle"/>
          </c:marker>
        </c:ser>
        <c:axId val="-2068027336"/>
        <c:axId val="-2113994439"/>
      </c:lineChart>
      <c:valAx>
        <c:axId val="-2113994439"/>
        <c:scaling>
          <c:orientation val="minMax"/>
        </c:scaling>
        <c:delete val="0"/>
        <c:axPos val="r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-2068027336"/>
        <c:crosses val="max"/>
        <c:auto val="1"/>
        <c:majorGridlines>
          <c:spPr>
            <a:ln w="9525">
              <a:solidFill>
                <a:srgbClr val="D9D9D9"/>
              </a:solidFill>
            </a:ln>
          </c:spPr>
        </c:majorGridlines>
      </c:valAx>
    </c:plotArea>
    <c:legend>
      <c:legendPos val="b"/>
      <c:overlay val="0"/>
      <c:txPr>
        <a:bodyPr/>
        <a:lstStyle/>
        <a:p>
          <a:pPr>
            <a:defRPr sz="900">
              <a:solidFill>
                <a:srgbClr val="182B49"/>
              </a:solidFill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Relationship Id="rId3" Type="http://schemas.openxmlformats.org/officeDocument/2006/relationships/chart" Target="../charts/chart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Relationship Id="rId3" Type="http://schemas.openxmlformats.org/officeDocument/2006/relationships/chart" Target="../charts/chart6.xml"/><Relationship Id="rId4" Type="http://schemas.openxmlformats.org/officeDocument/2006/relationships/chart" Target="../charts/chart7.xml"/><Relationship Id="rId5" Type="http://schemas.openxmlformats.org/officeDocument/2006/relationships/chart" Target="../charts/chart8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9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0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1.xml"/><Relationship Id="rId3" Type="http://schemas.openxmlformats.org/officeDocument/2006/relationships/chart" Target="../charts/chart1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8720" y="2286000"/>
            <a:ext cx="54864" cy="73152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554480" y="22860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网络指标分析报告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4480" y="347472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latin="Microsoft YaHei" ea="Microsoft YaHei">
                <a:solidFill>
                  <a:srgbClr val="8C8C8C"/>
                </a:solidFill>
              </a:defRPr>
            </a:pPr>
            <a:r>
              <a:rPr>
                <a:latin typeface="Microsoft YaHei"/>
              </a:rPr>
              <a:t>2024年6月</a:t>
            </a:r>
          </a:p>
        </p:txBody>
      </p:sp>
      <p:sp>
        <p:nvSpPr>
          <p:cNvPr id="6" name="Rectangle 5"/>
          <p:cNvSpPr/>
          <p:nvPr/>
        </p:nvSpPr>
        <p:spPr>
          <a:xfrm>
            <a:off x="1188720" y="5303520"/>
            <a:ext cx="9784080" cy="9144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539496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latin="Microsoft YaHei" ea="Microsoft YaHei">
                <a:solidFill>
                  <a:srgbClr val="8C8C8C"/>
                </a:solidFill>
              </a:defRPr>
            </a:pPr>
            <a:r>
              <a:rPr>
                <a:latin typeface="Microsoft YaHei"/>
              </a:rPr>
              <a:t>2026.07.01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PRB利用率总览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46304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8640" y="1188720"/>
          <a:ext cx="530352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309360" y="1188720"/>
          <a:ext cx="5303520" cy="50292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网络资源规模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46304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097280" y="914400"/>
          <a:ext cx="9966960" cy="2560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1097280" y="3840480"/>
          <a:ext cx="9966960" cy="25603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用户数与负载分布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46304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8640" y="1051560"/>
          <a:ext cx="5303520" cy="2514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309360" y="1051560"/>
          <a:ext cx="5303520" cy="25146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48640" y="3840480"/>
          <a:ext cx="5303520" cy="25146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6309360" y="3840480"/>
          <a:ext cx="5303520" cy="25146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重载小区分析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46304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8640" y="1188720"/>
          <a:ext cx="576072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上下行PRB对比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46304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097280" y="1188720"/>
          <a:ext cx="9966960" cy="51206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频段指标对比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46304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8640" y="1188720"/>
          <a:ext cx="530352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309360" y="1188720"/>
          <a:ext cx="5303520" cy="50292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各频段站点占比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46304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097280" y="1188720"/>
          <a:ext cx="9966960" cy="51206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站点与小区组合图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46304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097280" y="1188720"/>
          <a:ext cx="9966960" cy="51206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5G站点地理分布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46304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_ppt_map_15368782771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188720"/>
            <a:ext cx="9966960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用户密度热力图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46304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_ppt_map_153687826496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188720"/>
            <a:ext cx="9966960" cy="51206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