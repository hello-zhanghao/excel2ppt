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站点数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1473</c:v>
                </c:pt>
                <c:pt idx="4">
                  <c:v>1488</c:v>
                </c:pt>
                <c:pt idx="5">
                  <c:v>402</c:v>
                </c:pt>
                <c:pt idx="6">
                  <c:v>267</c:v>
                </c:pt>
                <c:pt idx="7">
                  <c:v>1218</c:v>
                </c:pt>
                <c:pt idx="8">
                  <c:v>780</c:v>
                </c:pt>
                <c:pt idx="9">
                  <c:v>979</c:v>
                </c:pt>
                <c:pt idx="10">
                  <c:v>1723</c:v>
                </c:pt>
                <c:pt idx="11">
                  <c:v>1700</c:v>
                </c:pt>
                <c:pt idx="12">
                  <c:v>1156</c:v>
                </c:pt>
                <c:pt idx="13">
                  <c:v>2167</c:v>
                </c:pt>
                <c:pt idx="14">
                  <c:v>340</c:v>
                </c:pt>
                <c:pt idx="15">
                  <c:v>549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各频段小区数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3969</c:v>
                </c:pt>
                <c:pt idx="4">
                  <c:v>5221</c:v>
                </c:pt>
                <c:pt idx="5">
                  <c:v>1358</c:v>
                </c:pt>
                <c:pt idx="6">
                  <c:v>975</c:v>
                </c:pt>
                <c:pt idx="7">
                  <c:v>3816</c:v>
                </c:pt>
                <c:pt idx="8">
                  <c:v>2601</c:v>
                </c:pt>
                <c:pt idx="9">
                  <c:v>3633</c:v>
                </c:pt>
                <c:pt idx="10">
                  <c:v>4599</c:v>
                </c:pt>
                <c:pt idx="11">
                  <c:v>7159</c:v>
                </c:pt>
                <c:pt idx="12">
                  <c:v>4470</c:v>
                </c:pt>
                <c:pt idx="13">
                  <c:v>7007</c:v>
                </c:pt>
                <c:pt idx="14">
                  <c:v>1007</c:v>
                </c:pt>
                <c:pt idx="15">
                  <c:v>2033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各频段用户数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用户数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4806</c:v>
                </c:pt>
                <c:pt idx="1">
                  <c:v>7212</c:v>
                </c:pt>
                <c:pt idx="2">
                  <c:v>9228</c:v>
                </c:pt>
                <c:pt idx="3">
                  <c:v>7224</c:v>
                </c:pt>
                <c:pt idx="4">
                  <c:v>6181</c:v>
                </c:pt>
                <c:pt idx="5">
                  <c:v>6501</c:v>
                </c:pt>
                <c:pt idx="6">
                  <c:v>1439</c:v>
                </c:pt>
                <c:pt idx="7">
                  <c:v>6527</c:v>
                </c:pt>
                <c:pt idx="8">
                  <c:v>1469</c:v>
                </c:pt>
                <c:pt idx="9">
                  <c:v>9425</c:v>
                </c:pt>
                <c:pt idx="10">
                  <c:v>5468</c:v>
                </c:pt>
                <c:pt idx="11">
                  <c:v>8479</c:v>
                </c:pt>
                <c:pt idx="12">
                  <c:v>9130</c:v>
                </c:pt>
                <c:pt idx="13">
                  <c:v>2566</c:v>
                </c:pt>
                <c:pt idx="14">
                  <c:v>7216</c:v>
                </c:pt>
                <c:pt idx="15">
                  <c:v>488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797</c:v>
                </c:pt>
                <c:pt idx="1">
                  <c:v>46</c:v>
                </c:pt>
                <c:pt idx="2">
                  <c:v>1083</c:v>
                </c:pt>
                <c:pt idx="3">
                  <c:v>418</c:v>
                </c:pt>
                <c:pt idx="4">
                  <c:v>1631</c:v>
                </c:pt>
                <c:pt idx="5">
                  <c:v>434</c:v>
                </c:pt>
                <c:pt idx="6">
                  <c:v>293</c:v>
                </c:pt>
                <c:pt idx="7">
                  <c:v>1228</c:v>
                </c:pt>
                <c:pt idx="8">
                  <c:v>300</c:v>
                </c:pt>
                <c:pt idx="9">
                  <c:v>1180</c:v>
                </c:pt>
                <c:pt idx="10">
                  <c:v>477</c:v>
                </c:pt>
                <c:pt idx="11">
                  <c:v>1825</c:v>
                </c:pt>
                <c:pt idx="12">
                  <c:v>804</c:v>
                </c:pt>
                <c:pt idx="13">
                  <c:v>2063</c:v>
                </c:pt>
                <c:pt idx="14">
                  <c:v>240</c:v>
                </c:pt>
                <c:pt idx="15">
                  <c:v>443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953</c:v>
                </c:pt>
                <c:pt idx="1">
                  <c:v>118</c:v>
                </c:pt>
                <c:pt idx="2">
                  <c:v>1834</c:v>
                </c:pt>
                <c:pt idx="3">
                  <c:v>1510</c:v>
                </c:pt>
                <c:pt idx="4">
                  <c:v>1913</c:v>
                </c:pt>
                <c:pt idx="5">
                  <c:v>434</c:v>
                </c:pt>
                <c:pt idx="6">
                  <c:v>461</c:v>
                </c:pt>
                <c:pt idx="7">
                  <c:v>489</c:v>
                </c:pt>
                <c:pt idx="8">
                  <c:v>661</c:v>
                </c:pt>
                <c:pt idx="9">
                  <c:v>1402</c:v>
                </c:pt>
                <c:pt idx="10">
                  <c:v>2097</c:v>
                </c:pt>
                <c:pt idx="11">
                  <c:v>859</c:v>
                </c:pt>
                <c:pt idx="12">
                  <c:v>1363</c:v>
                </c:pt>
                <c:pt idx="13">
                  <c:v>2954</c:v>
                </c:pt>
                <c:pt idx="14">
                  <c:v>258</c:v>
                </c:pt>
                <c:pt idx="15">
                  <c:v>349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上下行PRB对比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182B49"/>
              </a:solidFill>
            </a:ln>
          </c:spPr>
          <c:marker>
            <c:symbol val="circle"/>
            <c:size val="6"/>
            <c:spPr>
              <a:solidFill>
                <a:srgbClr val="182B49"/>
              </a:solidFill>
              <a:ln>
                <a:solidFill>
                  <a:srgbClr val="182B49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63</c:v>
                </c:pt>
                <c:pt idx="4">
                  <c:v>38.2</c:v>
                </c:pt>
                <c:pt idx="5">
                  <c:v>66.1</c:v>
                </c:pt>
                <c:pt idx="6">
                  <c:v>32</c:v>
                </c:pt>
                <c:pt idx="7">
                  <c:v>49.2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各频段站点占比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各频段站点占比</c:v>
                </c:pt>
              </c:strCache>
            </c:strRef>
          </c:tx>
          <c:dPt>
            <c:idx val="0"/>
            <c:spPr>
              <a:solidFill>
                <a:srgbClr val="C8102E"/>
              </a:solidFill>
            </c:spPr>
          </c:dPt>
          <c:dPt>
            <c:idx val="1"/>
            <c:spPr>
              <a:solidFill>
                <a:srgbClr val="182B49"/>
              </a:solidFill>
            </c:spPr>
          </c:dPt>
          <c:dPt>
            <c:idx val="2"/>
            <c:spPr>
              <a:solidFill>
                <a:srgbClr val="5B9BD5"/>
              </a:solidFill>
            </c:spPr>
          </c:dPt>
          <c:dPt>
            <c:idx val="3"/>
            <c:spPr>
              <a:solidFill>
                <a:srgbClr val="ED7D31"/>
              </a:solidFill>
            </c:spPr>
          </c:dPt>
          <c:dPt>
            <c:idx val="4"/>
            <c:spPr>
              <a:solidFill>
                <a:srgbClr val="70AD47"/>
              </a:solidFill>
            </c:spPr>
          </c:dPt>
          <c:dPt>
            <c:idx val="5"/>
            <c:spPr>
              <a:solidFill>
                <a:srgbClr val="A5A5A5"/>
              </a:solidFill>
            </c:spPr>
          </c:dPt>
          <c:dPt>
            <c:idx val="6"/>
            <c:spPr>
              <a:solidFill>
                <a:srgbClr val="FFC000"/>
              </a:solidFill>
            </c:spPr>
          </c:dPt>
          <c:dPt>
            <c:idx val="7"/>
            <c:spPr>
              <a:solidFill>
                <a:srgbClr val="9B59B6"/>
              </a:solidFill>
            </c:spPr>
          </c:dPt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站点数(柱) vs 小区数(线)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  <c:spPr>
            <a:solidFill>
              <a:srgbClr val="C8102E"/>
            </a:solidFill>
          </c:spPr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2033</c:v>
                </c:pt>
                <c:pt idx="4">
                  <c:v>2278</c:v>
                </c:pt>
                <c:pt idx="5">
                  <c:v>6293</c:v>
                </c:pt>
                <c:pt idx="6">
                  <c:v>4263</c:v>
                </c:pt>
                <c:pt idx="7">
                  <c:v>4471</c:v>
                </c:pt>
              </c:numCache>
            </c:numRef>
          </c:val>
          <c:spPr>
            <a:ln w="25400">
              <a:solidFill>
                <a:srgbClr val="182B49"/>
              </a:solidFill>
            </a:ln>
          </c:spPr>
          <c:marker>
            <c:symbol val="circle"/>
          </c:marker>
        </c:ser>
        <c:axId val="-2068027336"/>
        <c:axId val="-2113994439"/>
      </c:lineChart>
      <c:valAx>
        <c:axId val="-2113994439"/>
        <c:scaling>
          <c:orientation val="minMax"/>
        </c:scaling>
        <c:delete val="0"/>
        <c:axPos val="r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max"/>
        <c:auto val="1"/>
        <c:majorGridlines>
          <c:spPr>
            <a:ln w="9525">
              <a:solidFill>
                <a:srgbClr val="D9D9D9"/>
              </a:solidFill>
            </a:ln>
          </c:spPr>
        </c:majorGridlines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Excel范围格式(频段 vs 上下行PRB)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Excel范围格式(频段 vs 上下行PRB)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Sheet1!$A$2:$A$15</c:f>
              <c:strCache>
                <c:ptCount val="14"/>
                <c:pt idx="0">
                  <c:v>n700</c:v>
                </c:pt>
                <c:pt idx="1">
                  <c:v>n800</c:v>
                </c:pt>
                <c:pt idx="2">
                  <c:v>n900</c:v>
                </c:pt>
                <c:pt idx="3">
                  <c:v>n1</c:v>
                </c:pt>
                <c:pt idx="4">
                  <c:v>n3</c:v>
                </c:pt>
                <c:pt idx="5">
                  <c:v>n8</c:v>
                </c:pt>
                <c:pt idx="6">
                  <c:v>n28</c:v>
                </c:pt>
                <c:pt idx="7">
                  <c:v>n41</c:v>
                </c:pt>
                <c:pt idx="8">
                  <c:v>n78</c:v>
                </c:pt>
                <c:pt idx="9">
                  <c:v>n78</c:v>
                </c:pt>
                <c:pt idx="10">
                  <c:v>n78</c:v>
                </c:pt>
                <c:pt idx="11">
                  <c:v>n79</c:v>
                </c:pt>
                <c:pt idx="12">
                  <c:v>n257</c:v>
                </c:pt>
                <c:pt idx="13">
                  <c:v>n258</c:v>
                </c:pt>
              </c:strCache>
            </c: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61.6</c:v>
                </c:pt>
                <c:pt idx="1">
                  <c:v>31.6</c:v>
                </c:pt>
                <c:pt idx="2">
                  <c:v>34.2</c:v>
                </c:pt>
                <c:pt idx="3">
                  <c:v>62.8</c:v>
                </c:pt>
                <c:pt idx="4">
                  <c:v>72.4</c:v>
                </c:pt>
                <c:pt idx="5">
                  <c:v>75.4</c:v>
                </c:pt>
                <c:pt idx="6">
                  <c:v>72.5</c:v>
                </c:pt>
                <c:pt idx="7">
                  <c:v>77.4</c:v>
                </c:pt>
                <c:pt idx="8">
                  <c:v>23</c:v>
                </c:pt>
                <c:pt idx="9">
                  <c:v>44.8</c:v>
                </c:pt>
                <c:pt idx="10">
                  <c:v>37.4</c:v>
                </c:pt>
                <c:pt idx="11">
                  <c:v>90.9</c:v>
                </c:pt>
                <c:pt idx="12">
                  <c:v>64.5</c:v>
                </c:pt>
                <c:pt idx="13">
                  <c:v>84.8</c:v>
                </c:pt>
                <c:pt idx="14">
                  <c:v>40.5</c:v>
                </c:pt>
                <c:pt idx="15">
                  <c:v>72.6</c:v>
                </c:pt>
                <c:pt idx="16">
                  <c:v>43.5</c:v>
                </c:pt>
                <c:pt idx="17">
                  <c:v>94.8</c:v>
                </c:pt>
                <c:pt idx="18">
                  <c:v>45</c:v>
                </c:pt>
                <c:pt idx="19">
                  <c:v>68.7</c:v>
                </c:pt>
                <c:pt idx="20">
                  <c:v>70</c:v>
                </c:pt>
                <c:pt idx="21">
                  <c:v>52.1</c:v>
                </c:pt>
                <c:pt idx="22">
                  <c:v>26.9</c:v>
                </c:pt>
                <c:pt idx="23">
                  <c:v>70.6</c:v>
                </c:pt>
                <c:pt idx="24">
                  <c:v>51.8</c:v>
                </c:pt>
                <c:pt idx="25">
                  <c:v>37.3</c:v>
                </c:pt>
                <c:pt idx="26">
                  <c:v>54.6</c:v>
                </c:pt>
                <c:pt idx="27">
                  <c:v>38.2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Relationship Id="rId5" Type="http://schemas.openxmlformats.org/officeDocument/2006/relationships/chart" Target="../charts/char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Relationship Id="rId3" Type="http://schemas.openxmlformats.org/officeDocument/2006/relationships/chart" Target="../charts/char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2286000"/>
            <a:ext cx="54864" cy="7315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网络指标分析报告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3474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2024年6月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5303520"/>
            <a:ext cx="9784080" cy="9144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53949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2026.07.01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PRB利用率总览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网络资源规模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914400"/>
          <a:ext cx="996696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097280" y="3840480"/>
          <a:ext cx="9966960" cy="2560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用户数与负载分布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30936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重载小区分析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7607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上下行PRB对比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频段指标对比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各频段站点占比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站点与小区组合图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5G站点地理分布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20737321667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用户密度热力图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20737138270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频段带宽占比分布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PRB利用率趋势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站点负载散点分析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PRB利用率概览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Excel范围引用示例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混合图表仪表盘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关键指标一句话结论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