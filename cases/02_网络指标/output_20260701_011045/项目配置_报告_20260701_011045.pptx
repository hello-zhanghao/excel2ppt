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各频段站点数(圆环)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各频段站点数(圆环)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上下行PRB面积图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38.3</c:v>
                </c:pt>
                <c:pt idx="4">
                  <c:v>59</c:v>
                </c:pt>
                <c:pt idx="5">
                  <c:v>58.9</c:v>
                </c:pt>
                <c:pt idx="6">
                  <c:v>53.1</c:v>
                </c:pt>
                <c:pt idx="7">
                  <c:v>69.1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182B49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用户数 vs PRB利用率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 vs PRB利用率</c:v>
                </c:pt>
              </c:strCache>
            </c:strRef>
          </c:tx>
          <c:spPr>
            <a:solidFill>
              <a:srgbClr val="C8102E"/>
            </a:solidFill>
            <a:ln w="47625">
              <a:noFill/>
            </a:ln>
          </c:spPr>
          <c:xVal>
            <c:numRef>
              <c:f>Sheet1!$A$2:$A$15</c:f>
              <c:numCache>
                <c:formatCode>General</c:formatCode>
                <c:ptCount val="1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29643912"/>
        <c:crosses val="autoZero"/>
        <c:crossBetween val="midCat"/>
        <c:majorGridlines>
          <c:spPr>
            <a:ln w="9525">
              <a:solidFill>
                <a:srgbClr val="D9D9D9"/>
              </a:solidFill>
            </a:ln>
          </c:spPr>
        </c:majorGridlines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下行PRB利用率(上文下图)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下行PRB利用率(上文下图)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Excel范围格式(频段 vs 上下行PRB)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Excel范围格式(频段 vs 上下行PRB)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61.6</c:v>
                </c:pt>
                <c:pt idx="1">
                  <c:v>31.6</c:v>
                </c:pt>
                <c:pt idx="2">
                  <c:v>34.2</c:v>
                </c:pt>
                <c:pt idx="3">
                  <c:v>62.8</c:v>
                </c:pt>
                <c:pt idx="4">
                  <c:v>72.4</c:v>
                </c:pt>
                <c:pt idx="5">
                  <c:v>75.4</c:v>
                </c:pt>
                <c:pt idx="6">
                  <c:v>72.5</c:v>
                </c:pt>
                <c:pt idx="7">
                  <c:v>77.4</c:v>
                </c:pt>
                <c:pt idx="8">
                  <c:v>23</c:v>
                </c:pt>
                <c:pt idx="9">
                  <c:v>44.8</c:v>
                </c:pt>
                <c:pt idx="10">
                  <c:v>37.4</c:v>
                </c:pt>
                <c:pt idx="11">
                  <c:v>90.9</c:v>
                </c:pt>
                <c:pt idx="12">
                  <c:v>64.5</c:v>
                </c:pt>
                <c:pt idx="13">
                  <c:v>84.8</c:v>
                </c:pt>
                <c:pt idx="14">
                  <c:v>40.5</c:v>
                </c:pt>
                <c:pt idx="15">
                  <c:v>72.6</c:v>
                </c:pt>
                <c:pt idx="16">
                  <c:v>43.5</c:v>
                </c:pt>
                <c:pt idx="17">
                  <c:v>94.8</c:v>
                </c:pt>
                <c:pt idx="18">
                  <c:v>45</c:v>
                </c:pt>
                <c:pt idx="19">
                  <c:v>68.7</c:v>
                </c:pt>
                <c:pt idx="20">
                  <c:v>70</c:v>
                </c:pt>
                <c:pt idx="21">
                  <c:v>52.1</c:v>
                </c:pt>
                <c:pt idx="22">
                  <c:v>26.9</c:v>
                </c:pt>
                <c:pt idx="23">
                  <c:v>70.6</c:v>
                </c:pt>
                <c:pt idx="24">
                  <c:v>51.8</c:v>
                </c:pt>
                <c:pt idx="25">
                  <c:v>37.3</c:v>
                </c:pt>
                <c:pt idx="26">
                  <c:v>54.6</c:v>
                </c:pt>
                <c:pt idx="27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PRB利用率(线)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PRB利用率(线)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用户占比(饼)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用户占比(饼)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182B49"/>
              </a:solidFill>
            </c:spPr>
          </c:dPt>
          <c:dPt>
            <c:idx val="10"/>
            <c:spPr>
              <a:solidFill>
                <a:srgbClr val="5B9BD5"/>
              </a:solidFill>
            </c:spPr>
          </c:dPt>
          <c:dPt>
            <c:idx val="11"/>
            <c:spPr>
              <a:solidFill>
                <a:srgbClr val="ED7D31"/>
              </a:solidFill>
            </c:spPr>
          </c:dPt>
          <c:dPt>
            <c:idx val="12"/>
            <c:spPr>
              <a:solidFill>
                <a:srgbClr val="70AD47"/>
              </a:solidFill>
            </c:spPr>
          </c:dPt>
          <c:dPt>
            <c:idx val="13"/>
            <c:spPr>
              <a:solidFill>
                <a:srgbClr val="A5A5A5"/>
              </a:solidFill>
            </c:spPr>
          </c:dPt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9506</c:v>
                </c:pt>
                <c:pt idx="1">
                  <c:v>5434</c:v>
                </c:pt>
                <c:pt idx="2">
                  <c:v>10574</c:v>
                </c:pt>
                <c:pt idx="3">
                  <c:v>5392</c:v>
                </c:pt>
                <c:pt idx="4">
                  <c:v>3370</c:v>
                </c:pt>
                <c:pt idx="5">
                  <c:v>6308</c:v>
                </c:pt>
                <c:pt idx="6">
                  <c:v>7356</c:v>
                </c:pt>
                <c:pt idx="7">
                  <c:v>20964</c:v>
                </c:pt>
                <c:pt idx="8">
                  <c:v>12532</c:v>
                </c:pt>
                <c:pt idx="9">
                  <c:v>23337</c:v>
                </c:pt>
                <c:pt idx="10">
                  <c:v>17617</c:v>
                </c:pt>
                <c:pt idx="11">
                  <c:v>28937</c:v>
                </c:pt>
                <c:pt idx="12">
                  <c:v>3973</c:v>
                </c:pt>
                <c:pt idx="13">
                  <c:v>6404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重载小区(柱+线)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412</c:v>
                </c:pt>
                <c:pt idx="1">
                  <c:v>604</c:v>
                </c:pt>
                <c:pt idx="2">
                  <c:v>524</c:v>
                </c:pt>
                <c:pt idx="3">
                  <c:v>530</c:v>
                </c:pt>
                <c:pt idx="4">
                  <c:v>55</c:v>
                </c:pt>
                <c:pt idx="5">
                  <c:v>135</c:v>
                </c:pt>
                <c:pt idx="6">
                  <c:v>116</c:v>
                </c:pt>
                <c:pt idx="7">
                  <c:v>2598</c:v>
                </c:pt>
                <c:pt idx="8">
                  <c:v>2742</c:v>
                </c:pt>
                <c:pt idx="9">
                  <c:v>2308</c:v>
                </c:pt>
                <c:pt idx="10">
                  <c:v>4975</c:v>
                </c:pt>
                <c:pt idx="11">
                  <c:v>2072</c:v>
                </c:pt>
                <c:pt idx="12">
                  <c:v>381</c:v>
                </c:pt>
                <c:pt idx="13">
                  <c:v>644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359</c:v>
                </c:pt>
                <c:pt idx="1">
                  <c:v>1499</c:v>
                </c:pt>
                <c:pt idx="2">
                  <c:v>1191</c:v>
                </c:pt>
                <c:pt idx="3">
                  <c:v>554</c:v>
                </c:pt>
                <c:pt idx="4">
                  <c:v>133</c:v>
                </c:pt>
                <c:pt idx="5">
                  <c:v>309</c:v>
                </c:pt>
                <c:pt idx="6">
                  <c:v>310</c:v>
                </c:pt>
                <c:pt idx="7">
                  <c:v>4445</c:v>
                </c:pt>
                <c:pt idx="8">
                  <c:v>11038</c:v>
                </c:pt>
                <c:pt idx="9">
                  <c:v>7683</c:v>
                </c:pt>
                <c:pt idx="10">
                  <c:v>3789</c:v>
                </c:pt>
                <c:pt idx="11">
                  <c:v>6239</c:v>
                </c:pt>
                <c:pt idx="12">
                  <c:v>336</c:v>
                </c:pt>
                <c:pt idx="13">
                  <c:v>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上下行PRB对比(带结论)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61.6</c:v>
                </c:pt>
                <c:pt idx="1">
                  <c:v>34.2</c:v>
                </c:pt>
                <c:pt idx="2">
                  <c:v>72.4</c:v>
                </c:pt>
                <c:pt idx="3">
                  <c:v>72.5</c:v>
                </c:pt>
                <c:pt idx="4">
                  <c:v>23.0</c:v>
                </c:pt>
                <c:pt idx="5">
                  <c:v>37.4</c:v>
                </c:pt>
                <c:pt idx="6">
                  <c:v>64.5</c:v>
                </c:pt>
                <c:pt idx="7">
                  <c:v>40.5</c:v>
                </c:pt>
                <c:pt idx="8">
                  <c:v>43.5</c:v>
                </c:pt>
                <c:pt idx="9">
                  <c:v>45.0</c:v>
                </c:pt>
                <c:pt idx="10">
                  <c:v>70.0</c:v>
                </c:pt>
                <c:pt idx="11">
                  <c:v>26.9</c:v>
                </c:pt>
                <c:pt idx="12">
                  <c:v>51.8</c:v>
                </c:pt>
                <c:pt idx="13">
                  <c:v>54.6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8707866174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870784483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频段带宽占比分布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站点负载散点分析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2651760"/>
          <a:ext cx="9966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Excel范围引用示例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混合图表仪表盘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关键指标一句话结论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8686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defRPr sz="11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✦ 上行PRB最高为n1达到72.5%，下行最低为n3仅23.0%。共分析14个频段。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